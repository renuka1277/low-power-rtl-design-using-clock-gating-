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40820" y="1544304"/>
            <a:ext cx="8710358" cy="3270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E7E7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89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E7E7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89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E7E7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89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E7E7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89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7E7E7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89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FD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5700" y="257426"/>
            <a:ext cx="538099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1000" y="3246920"/>
            <a:ext cx="10903585" cy="151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13135" y="6234096"/>
            <a:ext cx="2818765" cy="337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7E7E7E"/>
                </a:solidFill>
                <a:latin typeface="Lucida Sans"/>
                <a:cs typeface="Lucida Sans"/>
              </a:defRPr>
            </a:lvl1pPr>
          </a:lstStyle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935841" y="6583967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889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://www.gitam.edu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docs.amd.com/v/u/en-US/ds181_Artix_7_Data_Sheet" TargetMode="External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scholar.google.com/scholar?hl=en&amp;as_sdt=0%2C5&amp;q=Power%2BReduction%2BThrough%2BRTL%2BClock%2BGating&amp;btnG" TargetMode="External"/><Relationship Id="rId3" Type="http://schemas.openxmlformats.org/officeDocument/2006/relationships/hyperlink" Target="https://scholar.google.com/scholar?hl=en&amp;as_sdt=0%2C5&amp;q=Enhanced%2Bclock%2Bgating%2Btechnique%2Bfor%2Bpower%2Boptimization%2Bin%2BSRAM%2Band%2BSequential%2Bcircuit%E2%80%9D&amp;btnG" TargetMode="External"/><Relationship Id="rId4" Type="http://schemas.openxmlformats.org/officeDocument/2006/relationships/hyperlink" Target="https://scholar.google.com/scholar?hl=en&amp;as_sdt=0%2C5&amp;q=Implementation%2Bof%2Badaptive%2Bclock%2Bgating%2Btechnique%2Bfor%2BLow%2Bpower%2Bcircuits%2B%E2%80%93%2BA%2BReview&amp;btnG" TargetMode="External"/><Relationship Id="rId5" Type="http://schemas.openxmlformats.org/officeDocument/2006/relationships/hyperlink" Target="https://ieeexplore.ieee.org/document/8587596" TargetMode="External"/><Relationship Id="rId6" Type="http://schemas.openxmlformats.org/officeDocument/2006/relationships/hyperlink" Target="https://ieeexplore.ieee.org/document/9376565" TargetMode="External"/><Relationship Id="rId7" Type="http://schemas.openxmlformats.org/officeDocument/2006/relationships/hyperlink" Target="https://ieeexplore.ieee.org/document/6139440" TargetMode="External"/><Relationship Id="rId8" Type="http://schemas.openxmlformats.org/officeDocument/2006/relationships/hyperlink" Target="https://ieeexplore.ieee.org/document/8544281" TargetMode="External"/><Relationship Id="rId9" Type="http://schemas.openxmlformats.org/officeDocument/2006/relationships/hyperlink" Target="https://ieeexplore.ieee.org/document/7226204" TargetMode="External"/><Relationship Id="rId10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Relationship Id="rId3" Type="http://schemas.openxmlformats.org/officeDocument/2006/relationships/hyperlink" Target="https://ieeexplore.ieee.org/document/6922241" TargetMode="External"/><Relationship Id="rId4" Type="http://schemas.openxmlformats.org/officeDocument/2006/relationships/hyperlink" Target="https://ieeexplore.ieee.org/document/6658028" TargetMode="External"/><Relationship Id="rId5" Type="http://schemas.openxmlformats.org/officeDocument/2006/relationships/hyperlink" Target="https://ieeexplore.ieee.org/document/10958909" TargetMode="External"/><Relationship Id="rId6" Type="http://schemas.openxmlformats.org/officeDocument/2006/relationships/hyperlink" Target="https://ieeexplore.ieee.org/document/11042123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lucidchart.com/pages/examples/uml_diagram_tool" TargetMode="Externa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5835" y="6246796"/>
            <a:ext cx="11575415" cy="3117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11475720" algn="l"/>
              </a:tabLst>
            </a:pPr>
            <a:r>
              <a:rPr dirty="0" sz="1800" spc="-30">
                <a:solidFill>
                  <a:srgbClr val="7E7E7E"/>
                </a:solidFill>
                <a:latin typeface="Lucida Sans"/>
                <a:cs typeface="Lucida Sans"/>
              </a:rPr>
              <a:t>Dept</a:t>
            </a:r>
            <a:r>
              <a:rPr dirty="0" sz="1800" spc="-90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1800" spc="-45">
                <a:solidFill>
                  <a:srgbClr val="7E7E7E"/>
                </a:solidFill>
                <a:latin typeface="Lucida Sans"/>
                <a:cs typeface="Lucida Sans"/>
              </a:rPr>
              <a:t>EECE,</a:t>
            </a:r>
            <a:r>
              <a:rPr dirty="0" sz="1800" spc="-85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1800" spc="-50">
                <a:solidFill>
                  <a:srgbClr val="7E7E7E"/>
                </a:solidFill>
                <a:latin typeface="Lucida Sans"/>
                <a:cs typeface="Lucida Sans"/>
              </a:rPr>
              <a:t>GST</a:t>
            </a:r>
            <a:r>
              <a:rPr dirty="0" sz="1800" spc="-85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Lucida Sans"/>
                <a:cs typeface="Lucida Sans"/>
              </a:rPr>
              <a:t>Bengaluru</a:t>
            </a:r>
            <a:r>
              <a:rPr dirty="0" sz="1800">
                <a:solidFill>
                  <a:srgbClr val="7E7E7E"/>
                </a:solidFill>
                <a:latin typeface="Lucida Sans"/>
                <a:cs typeface="Lucida Sans"/>
              </a:rPr>
              <a:t>	</a:t>
            </a:r>
            <a:r>
              <a:rPr dirty="0" baseline="15873" sz="2100" spc="-75">
                <a:latin typeface="Arial"/>
                <a:cs typeface="Arial"/>
              </a:rPr>
              <a:t>1</a:t>
            </a:r>
            <a:endParaRPr baseline="15873" sz="21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1273"/>
            <a:ext cx="12191999" cy="6716726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575287" y="6178689"/>
            <a:ext cx="10674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7E7E7E"/>
                </a:solidFill>
                <a:latin typeface="Arial"/>
                <a:cs typeface="Arial"/>
                <a:hlinkClick r:id="rId3"/>
              </a:rPr>
              <a:t>www.gitam.edu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8670" y="5215826"/>
            <a:ext cx="323126" cy="16226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982798" y="3170072"/>
            <a:ext cx="5942330" cy="1288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800" spc="-235">
                <a:solidFill>
                  <a:srgbClr val="006F69"/>
                </a:solidFill>
                <a:latin typeface="Arial Black"/>
                <a:cs typeface="Arial Black"/>
              </a:rPr>
              <a:t>GITAM</a:t>
            </a:r>
            <a:r>
              <a:rPr dirty="0" sz="2800" spc="-150">
                <a:solidFill>
                  <a:srgbClr val="006F69"/>
                </a:solidFill>
                <a:latin typeface="Arial Black"/>
                <a:cs typeface="Arial Black"/>
              </a:rPr>
              <a:t> </a:t>
            </a:r>
            <a:r>
              <a:rPr dirty="0" sz="2800" spc="-145">
                <a:solidFill>
                  <a:srgbClr val="006F69"/>
                </a:solidFill>
                <a:latin typeface="Arial Black"/>
                <a:cs typeface="Arial Black"/>
              </a:rPr>
              <a:t>(Deemed-</a:t>
            </a:r>
            <a:r>
              <a:rPr dirty="0" sz="2800" spc="-80">
                <a:solidFill>
                  <a:srgbClr val="006F69"/>
                </a:solidFill>
                <a:latin typeface="Arial Black"/>
                <a:cs typeface="Arial Black"/>
              </a:rPr>
              <a:t>to-</a:t>
            </a:r>
            <a:r>
              <a:rPr dirty="0" sz="2800" spc="-160">
                <a:solidFill>
                  <a:srgbClr val="006F69"/>
                </a:solidFill>
                <a:latin typeface="Arial Black"/>
                <a:cs typeface="Arial Black"/>
              </a:rPr>
              <a:t>be)</a:t>
            </a:r>
            <a:r>
              <a:rPr dirty="0" sz="2800" spc="-150">
                <a:solidFill>
                  <a:srgbClr val="006F69"/>
                </a:solidFill>
                <a:latin typeface="Arial Black"/>
                <a:cs typeface="Arial Black"/>
              </a:rPr>
              <a:t> </a:t>
            </a:r>
            <a:r>
              <a:rPr dirty="0" sz="2800" spc="-95">
                <a:solidFill>
                  <a:srgbClr val="006F69"/>
                </a:solidFill>
                <a:latin typeface="Arial Black"/>
                <a:cs typeface="Arial Black"/>
              </a:rPr>
              <a:t>University</a:t>
            </a:r>
            <a:endParaRPr sz="2800">
              <a:latin typeface="Arial Black"/>
              <a:cs typeface="Arial Black"/>
            </a:endParaRPr>
          </a:p>
          <a:p>
            <a:pPr algn="ctr" marL="771525" marR="770255">
              <a:lnSpc>
                <a:spcPct val="100000"/>
              </a:lnSpc>
              <a:spcBef>
                <a:spcPts val="2265"/>
              </a:spcBef>
            </a:pPr>
            <a:r>
              <a:rPr dirty="0" sz="1800" b="1">
                <a:solidFill>
                  <a:srgbClr val="282828"/>
                </a:solidFill>
                <a:latin typeface="Arial"/>
                <a:cs typeface="Arial"/>
              </a:rPr>
              <a:t>Department</a:t>
            </a:r>
            <a:r>
              <a:rPr dirty="0" sz="1800" spc="-3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82828"/>
                </a:solidFill>
                <a:latin typeface="Arial"/>
                <a:cs typeface="Arial"/>
              </a:rPr>
              <a:t>of</a:t>
            </a:r>
            <a:r>
              <a:rPr dirty="0" sz="1800" spc="-3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82828"/>
                </a:solidFill>
                <a:latin typeface="Arial"/>
                <a:cs typeface="Arial"/>
              </a:rPr>
              <a:t>Electrical</a:t>
            </a:r>
            <a:r>
              <a:rPr dirty="0" sz="1800" spc="-3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282828"/>
                </a:solidFill>
                <a:latin typeface="Arial"/>
                <a:cs typeface="Arial"/>
              </a:rPr>
              <a:t>Electronics</a:t>
            </a:r>
            <a:r>
              <a:rPr dirty="0" sz="1800" spc="-3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282828"/>
                </a:solidFill>
                <a:latin typeface="Arial"/>
                <a:cs typeface="Arial"/>
              </a:rPr>
              <a:t>and </a:t>
            </a:r>
            <a:r>
              <a:rPr dirty="0" sz="1800" b="1">
                <a:solidFill>
                  <a:srgbClr val="282828"/>
                </a:solidFill>
                <a:latin typeface="Arial"/>
                <a:cs typeface="Arial"/>
              </a:rPr>
              <a:t>Communication</a:t>
            </a:r>
            <a:r>
              <a:rPr dirty="0" sz="1800" spc="-9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282828"/>
                </a:solidFill>
                <a:latin typeface="Arial"/>
                <a:cs typeface="Arial"/>
              </a:rPr>
              <a:t>Engineering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3922" y="4926025"/>
            <a:ext cx="12014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Project</a:t>
            </a:r>
            <a:r>
              <a:rPr dirty="0" sz="1400" spc="-1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Team: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13922" y="5139385"/>
            <a:ext cx="414401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</a:tabLst>
            </a:pP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Nukala</a:t>
            </a:r>
            <a:r>
              <a:rPr dirty="0" sz="1400" spc="-1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Naga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Jyoshika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–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 BU22EECE0100489</a:t>
            </a:r>
            <a:endParaRPr sz="1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Poojala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Renuka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–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 BU22EECE0100491</a:t>
            </a:r>
            <a:endParaRPr sz="1400">
              <a:latin typeface="Arial"/>
              <a:cs typeface="Arial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Md.</a:t>
            </a:r>
            <a:r>
              <a:rPr dirty="0" sz="1400" spc="-1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Sameena</a:t>
            </a:r>
            <a:r>
              <a:rPr dirty="0" sz="1400" spc="-1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Thasleem</a:t>
            </a:r>
            <a:r>
              <a:rPr dirty="0" sz="1400" spc="-1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–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 BU22EECE0100497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977858" y="4837620"/>
            <a:ext cx="13290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Project</a:t>
            </a:r>
            <a:r>
              <a:rPr dirty="0" sz="1400" spc="-1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Mentor: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421400" y="5050980"/>
            <a:ext cx="188213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har char="•"/>
              <a:tabLst>
                <a:tab pos="297815" algn="l"/>
              </a:tabLst>
            </a:pPr>
            <a:r>
              <a:rPr dirty="0" sz="1400">
                <a:latin typeface="Arial"/>
                <a:cs typeface="Arial"/>
              </a:rPr>
              <a:t>Shatadal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Chatterjee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977858" y="5264340"/>
            <a:ext cx="15367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282828"/>
                </a:solidFill>
                <a:latin typeface="Arial"/>
                <a:cs typeface="Arial"/>
              </a:rPr>
              <a:t>Project</a:t>
            </a:r>
            <a:r>
              <a:rPr dirty="0" sz="1400" spc="1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282828"/>
                </a:solidFill>
                <a:latin typeface="Arial"/>
                <a:cs typeface="Arial"/>
              </a:rPr>
              <a:t>In-charge: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9624159" y="5477700"/>
            <a:ext cx="14770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100"/>
              </a:spcBef>
              <a:buChar char="•"/>
              <a:tabLst>
                <a:tab pos="347345" algn="l"/>
              </a:tabLst>
            </a:pPr>
            <a:r>
              <a:rPr dirty="0" sz="1400">
                <a:latin typeface="Arial"/>
                <a:cs typeface="Arial"/>
              </a:rPr>
              <a:t>Kshitij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Shakya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21052" y="1778685"/>
            <a:ext cx="7155180" cy="2018664"/>
            <a:chOff x="121052" y="1778685"/>
            <a:chExt cx="7155180" cy="2018664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1349" y="1778685"/>
              <a:ext cx="2674632" cy="124566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33752" y="2965411"/>
              <a:ext cx="2432050" cy="819150"/>
            </a:xfrm>
            <a:custGeom>
              <a:avLst/>
              <a:gdLst/>
              <a:ahLst/>
              <a:cxnLst/>
              <a:rect l="l" t="t" r="r" b="b"/>
              <a:pathLst>
                <a:path w="2432050" h="819150">
                  <a:moveTo>
                    <a:pt x="2295563" y="0"/>
                  </a:moveTo>
                  <a:lnTo>
                    <a:pt x="136486" y="0"/>
                  </a:lnTo>
                  <a:lnTo>
                    <a:pt x="93540" y="7006"/>
                  </a:lnTo>
                  <a:lnTo>
                    <a:pt x="56097" y="26478"/>
                  </a:lnTo>
                  <a:lnTo>
                    <a:pt x="26479" y="56095"/>
                  </a:lnTo>
                  <a:lnTo>
                    <a:pt x="7006" y="93538"/>
                  </a:lnTo>
                  <a:lnTo>
                    <a:pt x="0" y="136486"/>
                  </a:lnTo>
                  <a:lnTo>
                    <a:pt x="0" y="682421"/>
                  </a:lnTo>
                  <a:lnTo>
                    <a:pt x="7006" y="725365"/>
                  </a:lnTo>
                  <a:lnTo>
                    <a:pt x="26479" y="762807"/>
                  </a:lnTo>
                  <a:lnTo>
                    <a:pt x="56097" y="792426"/>
                  </a:lnTo>
                  <a:lnTo>
                    <a:pt x="93540" y="811901"/>
                  </a:lnTo>
                  <a:lnTo>
                    <a:pt x="136486" y="818908"/>
                  </a:lnTo>
                  <a:lnTo>
                    <a:pt x="2295563" y="818908"/>
                  </a:lnTo>
                  <a:lnTo>
                    <a:pt x="2338511" y="811901"/>
                  </a:lnTo>
                  <a:lnTo>
                    <a:pt x="2375954" y="792426"/>
                  </a:lnTo>
                  <a:lnTo>
                    <a:pt x="2405571" y="762807"/>
                  </a:lnTo>
                  <a:lnTo>
                    <a:pt x="2425043" y="725365"/>
                  </a:lnTo>
                  <a:lnTo>
                    <a:pt x="2432050" y="682421"/>
                  </a:lnTo>
                  <a:lnTo>
                    <a:pt x="2432050" y="136486"/>
                  </a:lnTo>
                  <a:lnTo>
                    <a:pt x="2425043" y="93538"/>
                  </a:lnTo>
                  <a:lnTo>
                    <a:pt x="2405571" y="56095"/>
                  </a:lnTo>
                  <a:lnTo>
                    <a:pt x="2375954" y="26478"/>
                  </a:lnTo>
                  <a:lnTo>
                    <a:pt x="2338511" y="7006"/>
                  </a:lnTo>
                  <a:lnTo>
                    <a:pt x="229556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33752" y="2965411"/>
              <a:ext cx="2432050" cy="819150"/>
            </a:xfrm>
            <a:custGeom>
              <a:avLst/>
              <a:gdLst/>
              <a:ahLst/>
              <a:cxnLst/>
              <a:rect l="l" t="t" r="r" b="b"/>
              <a:pathLst>
                <a:path w="2432050" h="819150">
                  <a:moveTo>
                    <a:pt x="0" y="136486"/>
                  </a:moveTo>
                  <a:lnTo>
                    <a:pt x="7006" y="93538"/>
                  </a:lnTo>
                  <a:lnTo>
                    <a:pt x="26479" y="56095"/>
                  </a:lnTo>
                  <a:lnTo>
                    <a:pt x="56097" y="26478"/>
                  </a:lnTo>
                  <a:lnTo>
                    <a:pt x="93540" y="7006"/>
                  </a:lnTo>
                  <a:lnTo>
                    <a:pt x="136486" y="0"/>
                  </a:lnTo>
                  <a:lnTo>
                    <a:pt x="2295563" y="0"/>
                  </a:lnTo>
                  <a:lnTo>
                    <a:pt x="2338511" y="7006"/>
                  </a:lnTo>
                  <a:lnTo>
                    <a:pt x="2375954" y="26478"/>
                  </a:lnTo>
                  <a:lnTo>
                    <a:pt x="2405571" y="56095"/>
                  </a:lnTo>
                  <a:lnTo>
                    <a:pt x="2425043" y="93538"/>
                  </a:lnTo>
                  <a:lnTo>
                    <a:pt x="2432050" y="136486"/>
                  </a:lnTo>
                  <a:lnTo>
                    <a:pt x="2432050" y="682421"/>
                  </a:lnTo>
                  <a:lnTo>
                    <a:pt x="2425043" y="725365"/>
                  </a:lnTo>
                  <a:lnTo>
                    <a:pt x="2405571" y="762807"/>
                  </a:lnTo>
                  <a:lnTo>
                    <a:pt x="2375954" y="792426"/>
                  </a:lnTo>
                  <a:lnTo>
                    <a:pt x="2338511" y="811901"/>
                  </a:lnTo>
                  <a:lnTo>
                    <a:pt x="2295563" y="818908"/>
                  </a:lnTo>
                  <a:lnTo>
                    <a:pt x="136486" y="818908"/>
                  </a:lnTo>
                  <a:lnTo>
                    <a:pt x="93540" y="811901"/>
                  </a:lnTo>
                  <a:lnTo>
                    <a:pt x="56097" y="792426"/>
                  </a:lnTo>
                  <a:lnTo>
                    <a:pt x="26479" y="762807"/>
                  </a:lnTo>
                  <a:lnTo>
                    <a:pt x="7006" y="725365"/>
                  </a:lnTo>
                  <a:lnTo>
                    <a:pt x="0" y="682421"/>
                  </a:lnTo>
                  <a:lnTo>
                    <a:pt x="0" y="136486"/>
                  </a:lnTo>
                  <a:close/>
                </a:path>
              </a:pathLst>
            </a:custGeom>
            <a:ln w="25399">
              <a:solidFill>
                <a:srgbClr val="9F42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390286" y="463629"/>
            <a:ext cx="3975735" cy="878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27355" marR="5080" indent="-415290"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006F69"/>
                </a:solidFill>
                <a:latin typeface="Arial"/>
                <a:cs typeface="Arial"/>
              </a:rPr>
              <a:t>Low</a:t>
            </a:r>
            <a:r>
              <a:rPr dirty="0" sz="2800" spc="-50" b="1">
                <a:solidFill>
                  <a:srgbClr val="006F69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6F69"/>
                </a:solidFill>
                <a:latin typeface="Arial"/>
                <a:cs typeface="Arial"/>
              </a:rPr>
              <a:t>Power</a:t>
            </a:r>
            <a:r>
              <a:rPr dirty="0" sz="2800" spc="-45" b="1">
                <a:solidFill>
                  <a:srgbClr val="006F69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6F69"/>
                </a:solidFill>
                <a:latin typeface="Arial"/>
                <a:cs typeface="Arial"/>
              </a:rPr>
              <a:t>RTL</a:t>
            </a:r>
            <a:r>
              <a:rPr dirty="0" sz="2800" spc="-50" b="1">
                <a:solidFill>
                  <a:srgbClr val="006F69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06F69"/>
                </a:solidFill>
                <a:latin typeface="Arial"/>
                <a:cs typeface="Arial"/>
              </a:rPr>
              <a:t>Design </a:t>
            </a:r>
            <a:r>
              <a:rPr dirty="0" sz="2800" b="1">
                <a:solidFill>
                  <a:srgbClr val="006F69"/>
                </a:solidFill>
                <a:latin typeface="Arial"/>
                <a:cs typeface="Arial"/>
              </a:rPr>
              <a:t>using</a:t>
            </a:r>
            <a:r>
              <a:rPr dirty="0" sz="2800" spc="-85" b="1">
                <a:solidFill>
                  <a:srgbClr val="006F69"/>
                </a:solidFill>
                <a:latin typeface="Arial"/>
                <a:cs typeface="Arial"/>
              </a:rPr>
              <a:t> </a:t>
            </a:r>
            <a:r>
              <a:rPr dirty="0" sz="2800" b="1">
                <a:solidFill>
                  <a:srgbClr val="006F69"/>
                </a:solidFill>
                <a:latin typeface="Arial"/>
                <a:cs typeface="Arial"/>
              </a:rPr>
              <a:t>clock</a:t>
            </a:r>
            <a:r>
              <a:rPr dirty="0" sz="2800" spc="-80" b="1">
                <a:solidFill>
                  <a:srgbClr val="006F69"/>
                </a:solidFill>
                <a:latin typeface="Arial"/>
                <a:cs typeface="Arial"/>
              </a:rPr>
              <a:t> </a:t>
            </a:r>
            <a:r>
              <a:rPr dirty="0" sz="2800" spc="-10" b="1">
                <a:solidFill>
                  <a:srgbClr val="006F69"/>
                </a:solidFill>
                <a:latin typeface="Arial"/>
                <a:cs typeface="Arial"/>
              </a:rPr>
              <a:t>gating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0386525" y="159504"/>
            <a:ext cx="1098550" cy="330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40" b="0">
                <a:solidFill>
                  <a:srgbClr val="006F69"/>
                </a:solidFill>
                <a:latin typeface="Arial Black"/>
                <a:cs typeface="Arial Black"/>
              </a:rPr>
              <a:t>Review-</a:t>
            </a:r>
            <a:r>
              <a:rPr dirty="0" sz="2000" spc="-50" b="0">
                <a:solidFill>
                  <a:srgbClr val="006F69"/>
                </a:solidFill>
                <a:latin typeface="Arial Black"/>
                <a:cs typeface="Arial Black"/>
              </a:rPr>
              <a:t>I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82815" y="3223323"/>
            <a:ext cx="1534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Verdana"/>
                <a:cs typeface="Verdana"/>
              </a:rPr>
              <a:t>AY</a:t>
            </a:r>
            <a:r>
              <a:rPr dirty="0" sz="1800" spc="-3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b="1">
                <a:solidFill>
                  <a:srgbClr val="FFFFFF"/>
                </a:solidFill>
                <a:latin typeface="Verdana"/>
                <a:cs typeface="Verdana"/>
              </a:rPr>
              <a:t>2025-</a:t>
            </a:r>
            <a:r>
              <a:rPr dirty="0" sz="1800" spc="-25" b="1">
                <a:solidFill>
                  <a:srgbClr val="FFFFFF"/>
                </a:solidFill>
                <a:latin typeface="Verdana"/>
                <a:cs typeface="Verdana"/>
              </a:rPr>
              <a:t>26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9275229" y="2952711"/>
            <a:ext cx="2795905" cy="844550"/>
            <a:chOff x="9275229" y="2952711"/>
            <a:chExt cx="2795905" cy="844550"/>
          </a:xfrm>
        </p:grpSpPr>
        <p:sp>
          <p:nvSpPr>
            <p:cNvPr id="21" name="object 21" descr=""/>
            <p:cNvSpPr/>
            <p:nvPr/>
          </p:nvSpPr>
          <p:spPr>
            <a:xfrm>
              <a:off x="9287929" y="2965411"/>
              <a:ext cx="2770505" cy="819150"/>
            </a:xfrm>
            <a:custGeom>
              <a:avLst/>
              <a:gdLst/>
              <a:ahLst/>
              <a:cxnLst/>
              <a:rect l="l" t="t" r="r" b="b"/>
              <a:pathLst>
                <a:path w="2770504" h="819150">
                  <a:moveTo>
                    <a:pt x="2633827" y="0"/>
                  </a:moveTo>
                  <a:lnTo>
                    <a:pt x="136486" y="0"/>
                  </a:lnTo>
                  <a:lnTo>
                    <a:pt x="93540" y="7006"/>
                  </a:lnTo>
                  <a:lnTo>
                    <a:pt x="56097" y="26478"/>
                  </a:lnTo>
                  <a:lnTo>
                    <a:pt x="26479" y="56095"/>
                  </a:lnTo>
                  <a:lnTo>
                    <a:pt x="7006" y="93538"/>
                  </a:lnTo>
                  <a:lnTo>
                    <a:pt x="0" y="136486"/>
                  </a:lnTo>
                  <a:lnTo>
                    <a:pt x="0" y="682421"/>
                  </a:lnTo>
                  <a:lnTo>
                    <a:pt x="7006" y="725365"/>
                  </a:lnTo>
                  <a:lnTo>
                    <a:pt x="26479" y="762807"/>
                  </a:lnTo>
                  <a:lnTo>
                    <a:pt x="56097" y="792426"/>
                  </a:lnTo>
                  <a:lnTo>
                    <a:pt x="93540" y="811901"/>
                  </a:lnTo>
                  <a:lnTo>
                    <a:pt x="136486" y="818908"/>
                  </a:lnTo>
                  <a:lnTo>
                    <a:pt x="2633827" y="818908"/>
                  </a:lnTo>
                  <a:lnTo>
                    <a:pt x="2676775" y="811901"/>
                  </a:lnTo>
                  <a:lnTo>
                    <a:pt x="2714218" y="792426"/>
                  </a:lnTo>
                  <a:lnTo>
                    <a:pt x="2743836" y="762807"/>
                  </a:lnTo>
                  <a:lnTo>
                    <a:pt x="2763308" y="725365"/>
                  </a:lnTo>
                  <a:lnTo>
                    <a:pt x="2770314" y="682421"/>
                  </a:lnTo>
                  <a:lnTo>
                    <a:pt x="2770314" y="136486"/>
                  </a:lnTo>
                  <a:lnTo>
                    <a:pt x="2763308" y="93538"/>
                  </a:lnTo>
                  <a:lnTo>
                    <a:pt x="2743836" y="56095"/>
                  </a:lnTo>
                  <a:lnTo>
                    <a:pt x="2714218" y="26478"/>
                  </a:lnTo>
                  <a:lnTo>
                    <a:pt x="2676775" y="7006"/>
                  </a:lnTo>
                  <a:lnTo>
                    <a:pt x="2633827" y="0"/>
                  </a:lnTo>
                  <a:close/>
                </a:path>
              </a:pathLst>
            </a:custGeom>
            <a:solidFill>
              <a:srgbClr val="EAA7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9287929" y="2965411"/>
              <a:ext cx="2770505" cy="819150"/>
            </a:xfrm>
            <a:custGeom>
              <a:avLst/>
              <a:gdLst/>
              <a:ahLst/>
              <a:cxnLst/>
              <a:rect l="l" t="t" r="r" b="b"/>
              <a:pathLst>
                <a:path w="2770504" h="819150">
                  <a:moveTo>
                    <a:pt x="0" y="136486"/>
                  </a:moveTo>
                  <a:lnTo>
                    <a:pt x="7006" y="93538"/>
                  </a:lnTo>
                  <a:lnTo>
                    <a:pt x="26479" y="56095"/>
                  </a:lnTo>
                  <a:lnTo>
                    <a:pt x="56097" y="26478"/>
                  </a:lnTo>
                  <a:lnTo>
                    <a:pt x="93540" y="7006"/>
                  </a:lnTo>
                  <a:lnTo>
                    <a:pt x="136486" y="0"/>
                  </a:lnTo>
                  <a:lnTo>
                    <a:pt x="2633827" y="0"/>
                  </a:lnTo>
                  <a:lnTo>
                    <a:pt x="2676775" y="7006"/>
                  </a:lnTo>
                  <a:lnTo>
                    <a:pt x="2714218" y="26478"/>
                  </a:lnTo>
                  <a:lnTo>
                    <a:pt x="2743836" y="56095"/>
                  </a:lnTo>
                  <a:lnTo>
                    <a:pt x="2763308" y="93538"/>
                  </a:lnTo>
                  <a:lnTo>
                    <a:pt x="2770314" y="136486"/>
                  </a:lnTo>
                  <a:lnTo>
                    <a:pt x="2770314" y="682421"/>
                  </a:lnTo>
                  <a:lnTo>
                    <a:pt x="2763308" y="725365"/>
                  </a:lnTo>
                  <a:lnTo>
                    <a:pt x="2743836" y="762807"/>
                  </a:lnTo>
                  <a:lnTo>
                    <a:pt x="2714218" y="792426"/>
                  </a:lnTo>
                  <a:lnTo>
                    <a:pt x="2676775" y="811901"/>
                  </a:lnTo>
                  <a:lnTo>
                    <a:pt x="2633827" y="818908"/>
                  </a:lnTo>
                  <a:lnTo>
                    <a:pt x="136486" y="818908"/>
                  </a:lnTo>
                  <a:lnTo>
                    <a:pt x="93540" y="811901"/>
                  </a:lnTo>
                  <a:lnTo>
                    <a:pt x="56097" y="792426"/>
                  </a:lnTo>
                  <a:lnTo>
                    <a:pt x="26479" y="762807"/>
                  </a:lnTo>
                  <a:lnTo>
                    <a:pt x="7006" y="725365"/>
                  </a:lnTo>
                  <a:lnTo>
                    <a:pt x="0" y="682421"/>
                  </a:lnTo>
                  <a:lnTo>
                    <a:pt x="0" y="136486"/>
                  </a:lnTo>
                  <a:close/>
                </a:path>
              </a:pathLst>
            </a:custGeom>
            <a:ln w="25399">
              <a:solidFill>
                <a:srgbClr val="9F420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9446202" y="2949003"/>
            <a:ext cx="245364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Verdana"/>
                <a:cs typeface="Verdana"/>
              </a:rPr>
              <a:t>Capstone</a:t>
            </a:r>
            <a:r>
              <a:rPr dirty="0" sz="1800" spc="-95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b="1">
                <a:solidFill>
                  <a:srgbClr val="FFFFFF"/>
                </a:solidFill>
                <a:latin typeface="Verdana"/>
                <a:cs typeface="Verdana"/>
              </a:rPr>
              <a:t>Project</a:t>
            </a:r>
            <a:r>
              <a:rPr dirty="0" sz="1800" spc="-90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800" spc="-50" b="1">
                <a:solidFill>
                  <a:srgbClr val="FFFFFF"/>
                </a:solidFill>
                <a:latin typeface="Verdana"/>
                <a:cs typeface="Verdana"/>
              </a:rPr>
              <a:t>– </a:t>
            </a:r>
            <a:r>
              <a:rPr dirty="0" sz="1800" spc="-10" b="1">
                <a:solidFill>
                  <a:srgbClr val="FFFFFF"/>
                </a:solidFill>
                <a:latin typeface="Verdana"/>
                <a:cs typeface="Verdana"/>
              </a:rPr>
              <a:t>Introduction (PROJ2999)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24" name="object 2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0" y="51435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71600">
              <a:lnSpc>
                <a:spcPct val="100000"/>
              </a:lnSpc>
              <a:spcBef>
                <a:spcPts val="100"/>
              </a:spcBef>
            </a:pPr>
            <a:r>
              <a:rPr dirty="0"/>
              <a:t>Objective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20"/>
              <a:t>Goals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37906" y="753205"/>
            <a:ext cx="2139950" cy="327660"/>
            <a:chOff x="537906" y="753205"/>
            <a:chExt cx="2139950" cy="327660"/>
          </a:xfrm>
        </p:grpSpPr>
        <p:sp>
          <p:nvSpPr>
            <p:cNvPr id="4" name="object 4" descr=""/>
            <p:cNvSpPr/>
            <p:nvPr/>
          </p:nvSpPr>
          <p:spPr>
            <a:xfrm>
              <a:off x="550605" y="765905"/>
              <a:ext cx="2114550" cy="302260"/>
            </a:xfrm>
            <a:custGeom>
              <a:avLst/>
              <a:gdLst/>
              <a:ahLst/>
              <a:cxnLst/>
              <a:rect l="l" t="t" r="r" b="b"/>
              <a:pathLst>
                <a:path w="2114550" h="302259">
                  <a:moveTo>
                    <a:pt x="2063978" y="0"/>
                  </a:moveTo>
                  <a:lnTo>
                    <a:pt x="50364" y="0"/>
                  </a:lnTo>
                  <a:lnTo>
                    <a:pt x="30839" y="3983"/>
                  </a:lnTo>
                  <a:lnTo>
                    <a:pt x="14821" y="14820"/>
                  </a:lnTo>
                  <a:lnTo>
                    <a:pt x="3984" y="30839"/>
                  </a:lnTo>
                  <a:lnTo>
                    <a:pt x="0" y="50368"/>
                  </a:lnTo>
                  <a:lnTo>
                    <a:pt x="0" y="251815"/>
                  </a:lnTo>
                  <a:lnTo>
                    <a:pt x="3984" y="271344"/>
                  </a:lnTo>
                  <a:lnTo>
                    <a:pt x="14821" y="287362"/>
                  </a:lnTo>
                  <a:lnTo>
                    <a:pt x="30839" y="298199"/>
                  </a:lnTo>
                  <a:lnTo>
                    <a:pt x="50364" y="302183"/>
                  </a:lnTo>
                  <a:lnTo>
                    <a:pt x="2063978" y="302183"/>
                  </a:lnTo>
                  <a:lnTo>
                    <a:pt x="2083499" y="298199"/>
                  </a:lnTo>
                  <a:lnTo>
                    <a:pt x="2099514" y="287362"/>
                  </a:lnTo>
                  <a:lnTo>
                    <a:pt x="2110350" y="271344"/>
                  </a:lnTo>
                  <a:lnTo>
                    <a:pt x="2114334" y="251815"/>
                  </a:lnTo>
                  <a:lnTo>
                    <a:pt x="2114334" y="50368"/>
                  </a:lnTo>
                  <a:lnTo>
                    <a:pt x="2110350" y="30839"/>
                  </a:lnTo>
                  <a:lnTo>
                    <a:pt x="2099514" y="14820"/>
                  </a:lnTo>
                  <a:lnTo>
                    <a:pt x="2083499" y="3983"/>
                  </a:lnTo>
                  <a:lnTo>
                    <a:pt x="2063978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50605" y="765905"/>
              <a:ext cx="2114550" cy="302260"/>
            </a:xfrm>
            <a:custGeom>
              <a:avLst/>
              <a:gdLst/>
              <a:ahLst/>
              <a:cxnLst/>
              <a:rect l="l" t="t" r="r" b="b"/>
              <a:pathLst>
                <a:path w="2114550" h="302259">
                  <a:moveTo>
                    <a:pt x="0" y="50368"/>
                  </a:moveTo>
                  <a:lnTo>
                    <a:pt x="3984" y="30839"/>
                  </a:lnTo>
                  <a:lnTo>
                    <a:pt x="14821" y="14820"/>
                  </a:lnTo>
                  <a:lnTo>
                    <a:pt x="30839" y="3983"/>
                  </a:lnTo>
                  <a:lnTo>
                    <a:pt x="50364" y="0"/>
                  </a:lnTo>
                  <a:lnTo>
                    <a:pt x="2063978" y="0"/>
                  </a:lnTo>
                  <a:lnTo>
                    <a:pt x="2083499" y="3983"/>
                  </a:lnTo>
                  <a:lnTo>
                    <a:pt x="2099514" y="14820"/>
                  </a:lnTo>
                  <a:lnTo>
                    <a:pt x="2110350" y="30839"/>
                  </a:lnTo>
                  <a:lnTo>
                    <a:pt x="2114334" y="50368"/>
                  </a:lnTo>
                  <a:lnTo>
                    <a:pt x="2114334" y="251815"/>
                  </a:lnTo>
                  <a:lnTo>
                    <a:pt x="2110350" y="271344"/>
                  </a:lnTo>
                  <a:lnTo>
                    <a:pt x="2099514" y="287362"/>
                  </a:lnTo>
                  <a:lnTo>
                    <a:pt x="2083499" y="298199"/>
                  </a:lnTo>
                  <a:lnTo>
                    <a:pt x="2063978" y="302183"/>
                  </a:lnTo>
                  <a:lnTo>
                    <a:pt x="50364" y="302183"/>
                  </a:lnTo>
                  <a:lnTo>
                    <a:pt x="30839" y="298199"/>
                  </a:lnTo>
                  <a:lnTo>
                    <a:pt x="14821" y="287362"/>
                  </a:lnTo>
                  <a:lnTo>
                    <a:pt x="3984" y="271344"/>
                  </a:lnTo>
                  <a:lnTo>
                    <a:pt x="0" y="251815"/>
                  </a:lnTo>
                  <a:lnTo>
                    <a:pt x="0" y="50368"/>
                  </a:lnTo>
                  <a:close/>
                </a:path>
              </a:pathLst>
            </a:custGeom>
            <a:ln w="25399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73369" y="745355"/>
            <a:ext cx="106870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Objective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537906" y="3416300"/>
            <a:ext cx="2139950" cy="327660"/>
            <a:chOff x="537906" y="3416300"/>
            <a:chExt cx="2139950" cy="327660"/>
          </a:xfrm>
        </p:grpSpPr>
        <p:sp>
          <p:nvSpPr>
            <p:cNvPr id="8" name="object 8" descr=""/>
            <p:cNvSpPr/>
            <p:nvPr/>
          </p:nvSpPr>
          <p:spPr>
            <a:xfrm>
              <a:off x="550605" y="3428999"/>
              <a:ext cx="2114550" cy="302260"/>
            </a:xfrm>
            <a:custGeom>
              <a:avLst/>
              <a:gdLst/>
              <a:ahLst/>
              <a:cxnLst/>
              <a:rect l="l" t="t" r="r" b="b"/>
              <a:pathLst>
                <a:path w="2114550" h="302260">
                  <a:moveTo>
                    <a:pt x="2063978" y="0"/>
                  </a:moveTo>
                  <a:lnTo>
                    <a:pt x="50364" y="0"/>
                  </a:lnTo>
                  <a:lnTo>
                    <a:pt x="30839" y="3983"/>
                  </a:lnTo>
                  <a:lnTo>
                    <a:pt x="14821" y="14820"/>
                  </a:lnTo>
                  <a:lnTo>
                    <a:pt x="3984" y="30839"/>
                  </a:lnTo>
                  <a:lnTo>
                    <a:pt x="0" y="50368"/>
                  </a:lnTo>
                  <a:lnTo>
                    <a:pt x="0" y="251815"/>
                  </a:lnTo>
                  <a:lnTo>
                    <a:pt x="3984" y="271344"/>
                  </a:lnTo>
                  <a:lnTo>
                    <a:pt x="14821" y="287362"/>
                  </a:lnTo>
                  <a:lnTo>
                    <a:pt x="30839" y="298199"/>
                  </a:lnTo>
                  <a:lnTo>
                    <a:pt x="50364" y="302183"/>
                  </a:lnTo>
                  <a:lnTo>
                    <a:pt x="2063978" y="302183"/>
                  </a:lnTo>
                  <a:lnTo>
                    <a:pt x="2083499" y="298199"/>
                  </a:lnTo>
                  <a:lnTo>
                    <a:pt x="2099514" y="287362"/>
                  </a:lnTo>
                  <a:lnTo>
                    <a:pt x="2110350" y="271344"/>
                  </a:lnTo>
                  <a:lnTo>
                    <a:pt x="2114334" y="251815"/>
                  </a:lnTo>
                  <a:lnTo>
                    <a:pt x="2114334" y="50368"/>
                  </a:lnTo>
                  <a:lnTo>
                    <a:pt x="2110350" y="30839"/>
                  </a:lnTo>
                  <a:lnTo>
                    <a:pt x="2099514" y="14820"/>
                  </a:lnTo>
                  <a:lnTo>
                    <a:pt x="2083499" y="3983"/>
                  </a:lnTo>
                  <a:lnTo>
                    <a:pt x="2063978" y="0"/>
                  </a:lnTo>
                  <a:close/>
                </a:path>
              </a:pathLst>
            </a:custGeom>
            <a:solidFill>
              <a:srgbClr val="18181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50605" y="3428999"/>
              <a:ext cx="2114550" cy="302260"/>
            </a:xfrm>
            <a:custGeom>
              <a:avLst/>
              <a:gdLst/>
              <a:ahLst/>
              <a:cxnLst/>
              <a:rect l="l" t="t" r="r" b="b"/>
              <a:pathLst>
                <a:path w="2114550" h="302260">
                  <a:moveTo>
                    <a:pt x="0" y="50368"/>
                  </a:moveTo>
                  <a:lnTo>
                    <a:pt x="3984" y="30839"/>
                  </a:lnTo>
                  <a:lnTo>
                    <a:pt x="14821" y="14820"/>
                  </a:lnTo>
                  <a:lnTo>
                    <a:pt x="30839" y="3983"/>
                  </a:lnTo>
                  <a:lnTo>
                    <a:pt x="50364" y="0"/>
                  </a:lnTo>
                  <a:lnTo>
                    <a:pt x="2063978" y="0"/>
                  </a:lnTo>
                  <a:lnTo>
                    <a:pt x="2083499" y="3983"/>
                  </a:lnTo>
                  <a:lnTo>
                    <a:pt x="2099514" y="14820"/>
                  </a:lnTo>
                  <a:lnTo>
                    <a:pt x="2110350" y="30839"/>
                  </a:lnTo>
                  <a:lnTo>
                    <a:pt x="2114334" y="50368"/>
                  </a:lnTo>
                  <a:lnTo>
                    <a:pt x="2114334" y="251815"/>
                  </a:lnTo>
                  <a:lnTo>
                    <a:pt x="2110350" y="271344"/>
                  </a:lnTo>
                  <a:lnTo>
                    <a:pt x="2099514" y="287362"/>
                  </a:lnTo>
                  <a:lnTo>
                    <a:pt x="2083499" y="298199"/>
                  </a:lnTo>
                  <a:lnTo>
                    <a:pt x="2063978" y="302183"/>
                  </a:lnTo>
                  <a:lnTo>
                    <a:pt x="50364" y="302183"/>
                  </a:lnTo>
                  <a:lnTo>
                    <a:pt x="30839" y="298199"/>
                  </a:lnTo>
                  <a:lnTo>
                    <a:pt x="14821" y="287362"/>
                  </a:lnTo>
                  <a:lnTo>
                    <a:pt x="3984" y="271344"/>
                  </a:lnTo>
                  <a:lnTo>
                    <a:pt x="0" y="251815"/>
                  </a:lnTo>
                  <a:lnTo>
                    <a:pt x="0" y="50368"/>
                  </a:lnTo>
                  <a:close/>
                </a:path>
              </a:pathLst>
            </a:custGeom>
            <a:ln w="25399">
              <a:solidFill>
                <a:srgbClr val="28282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1093682" y="1391945"/>
            <a:ext cx="9721850" cy="1305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Brief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Description:</a:t>
            </a:r>
            <a:endParaRPr sz="140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objective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lower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utilized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circuit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RTL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method.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Beyond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multiple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saving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single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centralized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controller</a:t>
            </a:r>
            <a:r>
              <a:rPr dirty="0" sz="1400" spc="-25">
                <a:latin typeface="Times New Roman"/>
                <a:cs typeface="Times New Roman"/>
              </a:rPr>
              <a:t> to </a:t>
            </a:r>
            <a:r>
              <a:rPr dirty="0" sz="1400">
                <a:latin typeface="Times New Roman"/>
                <a:cs typeface="Times New Roman"/>
              </a:rPr>
              <a:t>maximize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energy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efficiency.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unified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adaptive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both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dynamic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frequency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scaling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single controller.</a:t>
            </a:r>
            <a:endParaRPr sz="1400">
              <a:latin typeface="Times New Roman"/>
              <a:cs typeface="Times New Roman"/>
            </a:endParaRPr>
          </a:p>
          <a:p>
            <a:pPr marL="50101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advantage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circuit’s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activity.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93682" y="3408451"/>
            <a:ext cx="9396095" cy="1786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Times New Roman"/>
                <a:cs typeface="Times New Roman"/>
              </a:rPr>
              <a:t>Goals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400" b="1">
                <a:latin typeface="Times New Roman"/>
                <a:cs typeface="Times New Roman"/>
              </a:rPr>
              <a:t>Main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Goals: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consumption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circuit.</a:t>
            </a:r>
            <a:endParaRPr sz="14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primary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single,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centralized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both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saving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dynamic </a:t>
            </a:r>
            <a:r>
              <a:rPr dirty="0" sz="1400">
                <a:latin typeface="Times New Roman"/>
                <a:cs typeface="Times New Roman"/>
              </a:rPr>
              <a:t>frequency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scaling.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efficient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separate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controllers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functions.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Developing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adaptive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circuit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whether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mode.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showcase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real-</a:t>
            </a:r>
            <a:r>
              <a:rPr dirty="0" sz="1400">
                <a:latin typeface="Times New Roman"/>
                <a:cs typeface="Times New Roman"/>
              </a:rPr>
              <a:t>world,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standard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approach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low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design.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5143500"/>
            <a:ext cx="2286000" cy="1714500"/>
          </a:xfrm>
          <a:prstGeom prst="rect">
            <a:avLst/>
          </a:prstGeom>
        </p:spPr>
      </p:pic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8900">
              <a:lnSpc>
                <a:spcPts val="14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19498" y="1150666"/>
            <a:ext cx="11038840" cy="2799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Review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1: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Project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Proposal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&amp;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Design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Define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scope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propose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high-</a:t>
            </a:r>
            <a:r>
              <a:rPr dirty="0" sz="1400">
                <a:latin typeface="Times New Roman"/>
                <a:cs typeface="Times New Roman"/>
              </a:rPr>
              <a:t>level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design.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 spc="-10">
                <a:latin typeface="Times New Roman"/>
                <a:cs typeface="Times New Roman"/>
              </a:rPr>
              <a:t>Milestones: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Research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summarize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existing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low-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techniques,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frequency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scaling.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Clearly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define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consumption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RTL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circuits.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Outline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project's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objectives,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methodology.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Review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2: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Unified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Controller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on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Full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Adder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combine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multiple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power-</a:t>
            </a:r>
            <a:r>
              <a:rPr dirty="0" sz="1400">
                <a:latin typeface="Times New Roman"/>
                <a:cs typeface="Times New Roman"/>
              </a:rPr>
              <a:t>saving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single,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advanced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achieve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maximum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energy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efficiency.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Your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now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both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gating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light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sleep)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frequency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scaling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deep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sleep)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duration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inactivity.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</a:t>
            </a:r>
            <a:endParaRPr sz="14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unified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adaptive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system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we've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been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on.</a:t>
            </a:r>
            <a:endParaRPr sz="1400">
              <a:latin typeface="Times New Roman"/>
              <a:cs typeface="Times New Roman"/>
            </a:endParaRPr>
          </a:p>
          <a:p>
            <a:pPr marL="298450" marR="281305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results,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including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significant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numbers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functional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waveforms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validate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Light </a:t>
            </a:r>
            <a:r>
              <a:rPr dirty="0" sz="1400">
                <a:latin typeface="Times New Roman"/>
                <a:cs typeface="Times New Roman"/>
              </a:rPr>
              <a:t>Sleep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Deep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Sleep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modes.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4864" y="382906"/>
            <a:ext cx="97447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dirty="0" spc="-45"/>
              <a:t> </a:t>
            </a:r>
            <a:r>
              <a:rPr dirty="0"/>
              <a:t>Plan</a:t>
            </a:r>
            <a:r>
              <a:rPr dirty="0" spc="-45"/>
              <a:t> </a:t>
            </a:r>
            <a:r>
              <a:rPr dirty="0"/>
              <a:t>(Clearly</a:t>
            </a:r>
            <a:r>
              <a:rPr dirty="0" spc="-45"/>
              <a:t> </a:t>
            </a:r>
            <a:r>
              <a:rPr dirty="0"/>
              <a:t>mention</a:t>
            </a:r>
            <a:r>
              <a:rPr dirty="0" spc="-40"/>
              <a:t> </a:t>
            </a:r>
            <a:r>
              <a:rPr dirty="0"/>
              <a:t>milestone</a:t>
            </a:r>
            <a:r>
              <a:rPr dirty="0" spc="-45"/>
              <a:t> </a:t>
            </a:r>
            <a:r>
              <a:rPr dirty="0"/>
              <a:t>for</a:t>
            </a:r>
            <a:r>
              <a:rPr dirty="0" spc="-45"/>
              <a:t> </a:t>
            </a:r>
            <a:r>
              <a:rPr dirty="0"/>
              <a:t>objectives</a:t>
            </a:r>
            <a:r>
              <a:rPr dirty="0" spc="-40"/>
              <a:t> </a:t>
            </a:r>
            <a:r>
              <a:rPr dirty="0"/>
              <a:t>under</a:t>
            </a:r>
            <a:r>
              <a:rPr dirty="0" spc="-45"/>
              <a:t> </a:t>
            </a:r>
            <a:r>
              <a:rPr dirty="0"/>
              <a:t>each</a:t>
            </a:r>
            <a:r>
              <a:rPr dirty="0" spc="-45"/>
              <a:t> </a:t>
            </a:r>
            <a:r>
              <a:rPr dirty="0" spc="-10"/>
              <a:t>reviews)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5143500"/>
            <a:ext cx="2286000" cy="171450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8900">
              <a:lnSpc>
                <a:spcPts val="14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19555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dirty="0" spc="-65"/>
              <a:t> </a:t>
            </a:r>
            <a:r>
              <a:rPr dirty="0" spc="-10"/>
              <a:t>Survey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1007" y="899960"/>
            <a:ext cx="9820275" cy="3439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Key</a:t>
            </a:r>
            <a:r>
              <a:rPr dirty="0" sz="1400" spc="-10" b="1">
                <a:latin typeface="Times New Roman"/>
                <a:cs typeface="Times New Roman"/>
              </a:rPr>
              <a:t> Publications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Power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Reduction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Through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RTL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Gating[1]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Validated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methodology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ASIC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RTL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gating</a:t>
            </a:r>
            <a:r>
              <a:rPr dirty="0" sz="1400" spc="-10" b="1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Proved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RTL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dynamic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current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consumption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72%(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280mA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78mA)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world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200K=gate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ASIC.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flipflops,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achieving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80%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from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area.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Found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RTL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resulted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significant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6.75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cell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savings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eliminating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multiplexers.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Enhanced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gating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technique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power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optimization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SRAM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Sequential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circuit.[2]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paper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proposes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enhanced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latch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buffer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consumption.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aims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solve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issues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like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glitching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triggering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found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gating.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proposed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achieves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consumption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1.065W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delay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6ns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sequential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circuit.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significant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improvement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over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traditional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4-</a:t>
            </a:r>
            <a:r>
              <a:rPr dirty="0" sz="1400">
                <a:latin typeface="Times New Roman"/>
                <a:cs typeface="Times New Roman"/>
              </a:rPr>
              <a:t>bit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counter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without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22.96W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delay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72ns.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Implementation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adaptive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gating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technique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for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Low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power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circuits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Review[3]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paper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reviews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various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concludes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adaptive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most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robust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technique.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compares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flip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finding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efficient.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Case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study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reduction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21.5%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random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flipflop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6%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3-</a:t>
            </a:r>
            <a:r>
              <a:rPr dirty="0" sz="1400">
                <a:latin typeface="Times New Roman"/>
                <a:cs typeface="Times New Roman"/>
              </a:rPr>
              <a:t>bit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counter.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concludes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amount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varies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depending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system’s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specific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logic.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5143500"/>
            <a:ext cx="2286000" cy="1714500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8900">
              <a:lnSpc>
                <a:spcPts val="14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93358" y="333227"/>
            <a:ext cx="11227435" cy="535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Key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Resources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Whitepaper|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Application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Notes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|</a:t>
            </a:r>
            <a:r>
              <a:rPr dirty="0" sz="1400" spc="30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Datasheet|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Others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pos="297815" algn="l"/>
              </a:tabLst>
            </a:pP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Arti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</a:rPr>
              <a:t>x</a:t>
            </a:r>
            <a:r>
              <a:rPr dirty="0" u="sng" sz="1400" spc="-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–</a:t>
            </a:r>
            <a:r>
              <a:rPr dirty="0" u="sng" sz="1400" spc="-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7</a:t>
            </a:r>
            <a:r>
              <a:rPr dirty="0" sz="1400">
                <a:solidFill>
                  <a:srgbClr val="0562C1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datasheet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Existing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Implementations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–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Products|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Opensource|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GitHub</a:t>
            </a:r>
            <a:r>
              <a:rPr dirty="0" sz="1400" spc="-40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etc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1.</a:t>
            </a:r>
            <a:r>
              <a:rPr dirty="0" sz="1400" spc="31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Gate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gating:</a:t>
            </a:r>
            <a:endParaRPr sz="14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simplest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efficient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logic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(such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gate)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clock </a:t>
            </a:r>
            <a:r>
              <a:rPr dirty="0" sz="1400">
                <a:latin typeface="Times New Roman"/>
                <a:cs typeface="Times New Roman"/>
              </a:rPr>
              <a:t>signal.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simple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occupied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buFont typeface="Times New Roman"/>
              <a:buAutoNum type="arabicPeriod" startAt="2"/>
              <a:tabLst>
                <a:tab pos="19050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Latch-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gating:</a:t>
            </a:r>
            <a:endParaRPr sz="1400">
              <a:latin typeface="Times New Roman"/>
              <a:cs typeface="Times New Roman"/>
            </a:endParaRPr>
          </a:p>
          <a:p>
            <a:pPr lvl="1" marL="298450" marR="123189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level-</a:t>
            </a:r>
            <a:r>
              <a:rPr dirty="0" sz="1400">
                <a:latin typeface="Times New Roman"/>
                <a:cs typeface="Times New Roman"/>
              </a:rPr>
              <a:t>sensitive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element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avoids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glitches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good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performance,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sleep </a:t>
            </a:r>
            <a:r>
              <a:rPr dirty="0" sz="1400">
                <a:latin typeface="Times New Roman"/>
                <a:cs typeface="Times New Roman"/>
              </a:rPr>
              <a:t>period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cause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mismatch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delay.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buFont typeface="Times New Roman"/>
              <a:buAutoNum type="arabicPeriod" startAt="3"/>
              <a:tabLst>
                <a:tab pos="19050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Flip-</a:t>
            </a:r>
            <a:r>
              <a:rPr dirty="0" sz="1400" b="1">
                <a:latin typeface="Times New Roman"/>
                <a:cs typeface="Times New Roman"/>
              </a:rPr>
              <a:t>flop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gating:</a:t>
            </a:r>
            <a:endParaRPr sz="1400">
              <a:latin typeface="Times New Roman"/>
              <a:cs typeface="Times New Roman"/>
            </a:endParaRPr>
          </a:p>
          <a:p>
            <a:pPr lvl="1" marL="298450" marR="929005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edge-</a:t>
            </a:r>
            <a:r>
              <a:rPr dirty="0" sz="1400">
                <a:latin typeface="Times New Roman"/>
                <a:cs typeface="Times New Roman"/>
              </a:rPr>
              <a:t>triggered</a:t>
            </a:r>
            <a:r>
              <a:rPr dirty="0" sz="1400" spc="-10">
                <a:latin typeface="Times New Roman"/>
                <a:cs typeface="Times New Roman"/>
              </a:rPr>
              <a:t> flip-</a:t>
            </a:r>
            <a:r>
              <a:rPr dirty="0" sz="1400">
                <a:latin typeface="Times New Roman"/>
                <a:cs typeface="Times New Roman"/>
              </a:rPr>
              <a:t>flop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pin.</a:t>
            </a:r>
            <a:r>
              <a:rPr dirty="0" sz="1400" spc="-10">
                <a:latin typeface="Times New Roman"/>
                <a:cs typeface="Times New Roman"/>
              </a:rPr>
              <a:t> Flip-</a:t>
            </a:r>
            <a:r>
              <a:rPr dirty="0" sz="1400">
                <a:latin typeface="Times New Roman"/>
                <a:cs typeface="Times New Roman"/>
              </a:rPr>
              <a:t>flop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highly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preferred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due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power </a:t>
            </a:r>
            <a:r>
              <a:rPr dirty="0" sz="1400">
                <a:latin typeface="Times New Roman"/>
                <a:cs typeface="Times New Roman"/>
              </a:rPr>
              <a:t>consumption,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switching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large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usage.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buFont typeface="Times New Roman"/>
              <a:buAutoNum type="arabicPeriod" startAt="4"/>
              <a:tabLst>
                <a:tab pos="19050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Synthesis-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gating:</a:t>
            </a:r>
            <a:endParaRPr sz="1400">
              <a:latin typeface="Times New Roman"/>
              <a:cs typeface="Times New Roman"/>
            </a:endParaRPr>
          </a:p>
          <a:p>
            <a:pPr lvl="1" marL="298450" marR="469265" indent="-285750">
              <a:lnSpc>
                <a:spcPct val="100000"/>
              </a:lnSpc>
              <a:buFont typeface="Arial"/>
              <a:buChar char="•"/>
              <a:tabLst>
                <a:tab pos="298450" algn="l"/>
                <a:tab pos="1840230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widely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used</a:t>
            </a:r>
            <a:r>
              <a:rPr dirty="0" sz="1400">
                <a:latin typeface="Times New Roman"/>
                <a:cs typeface="Times New Roman"/>
              </a:rPr>
              <a:t>	method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EDA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automatically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insert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pulses.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easy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less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timing </a:t>
            </a:r>
            <a:r>
              <a:rPr dirty="0" sz="1400">
                <a:latin typeface="Times New Roman"/>
                <a:cs typeface="Times New Roman"/>
              </a:rPr>
              <a:t>constraints,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have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redundant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problem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consume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compared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other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techniques.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buAutoNum type="arabicPeriod" startAt="5"/>
              <a:tabLst>
                <a:tab pos="19050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Data-</a:t>
            </a:r>
            <a:r>
              <a:rPr dirty="0" sz="1400" b="1">
                <a:latin typeface="Times New Roman"/>
                <a:cs typeface="Times New Roman"/>
              </a:rPr>
              <a:t>driven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gating:</a:t>
            </a:r>
            <a:endParaRPr sz="1400">
              <a:latin typeface="Times New Roman"/>
              <a:cs typeface="Times New Roman"/>
            </a:endParaRPr>
          </a:p>
          <a:p>
            <a:pPr lvl="1" marL="298450" marR="188595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blocks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next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cycle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XOR-</a:t>
            </a:r>
            <a:r>
              <a:rPr dirty="0" sz="1400">
                <a:latin typeface="Times New Roman"/>
                <a:cs typeface="Times New Roman"/>
              </a:rPr>
              <a:t>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current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output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present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input.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consumes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less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avoids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redundant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problem,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moderate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switching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difficult.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buFont typeface="Times New Roman"/>
              <a:buAutoNum type="arabicPeriod" startAt="6"/>
              <a:tabLst>
                <a:tab pos="19050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Auto-</a:t>
            </a:r>
            <a:r>
              <a:rPr dirty="0" sz="1400" b="1">
                <a:latin typeface="Times New Roman"/>
                <a:cs typeface="Times New Roman"/>
              </a:rPr>
              <a:t>gated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gating:</a:t>
            </a:r>
            <a:endParaRPr sz="1400">
              <a:latin typeface="Times New Roman"/>
              <a:cs typeface="Times New Roman"/>
            </a:endParaRPr>
          </a:p>
          <a:p>
            <a:pPr lvl="1" marL="298450" marR="137160" indent="-285750">
              <a:lnSpc>
                <a:spcPct val="100000"/>
              </a:lnSpc>
              <a:buChar char="•"/>
              <a:tabLst>
                <a:tab pos="298450" algn="l"/>
                <a:tab pos="342265" algn="l"/>
              </a:tabLst>
            </a:pPr>
            <a:r>
              <a:rPr dirty="0" sz="1400">
                <a:latin typeface="Arial"/>
                <a:cs typeface="Arial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auto-</a:t>
            </a:r>
            <a:r>
              <a:rPr dirty="0" sz="1400">
                <a:latin typeface="Times New Roman"/>
                <a:cs typeface="Times New Roman"/>
              </a:rPr>
              <a:t>gated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flip-</a:t>
            </a:r>
            <a:r>
              <a:rPr dirty="0" sz="1400">
                <a:latin typeface="Times New Roman"/>
                <a:cs typeface="Times New Roman"/>
              </a:rPr>
              <a:t>flop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easy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redundant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problem,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but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switching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activity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constraints.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slave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latches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loads.</a:t>
            </a:r>
            <a:endParaRPr sz="1400">
              <a:latin typeface="Times New Roman"/>
              <a:cs typeface="Times New Roman"/>
            </a:endParaRPr>
          </a:p>
          <a:p>
            <a:pPr marL="190500" indent="-177800">
              <a:lnSpc>
                <a:spcPct val="100000"/>
              </a:lnSpc>
              <a:buFont typeface="Times New Roman"/>
              <a:buAutoNum type="arabicPeriod" startAt="7"/>
              <a:tabLst>
                <a:tab pos="190500" algn="l"/>
              </a:tabLst>
            </a:pPr>
            <a:r>
              <a:rPr dirty="0" sz="1400" spc="-10" b="1">
                <a:latin typeface="Times New Roman"/>
                <a:cs typeface="Times New Roman"/>
              </a:rPr>
              <a:t>Look-</a:t>
            </a:r>
            <a:r>
              <a:rPr dirty="0" sz="1400" b="1">
                <a:latin typeface="Times New Roman"/>
                <a:cs typeface="Times New Roman"/>
              </a:rPr>
              <a:t>ahead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based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gating:</a:t>
            </a:r>
            <a:endParaRPr sz="1400">
              <a:latin typeface="Times New Roman"/>
              <a:cs typeface="Times New Roman"/>
            </a:endParaRPr>
          </a:p>
          <a:p>
            <a:pPr lvl="1" marL="298450" marR="207010" indent="-285750">
              <a:lnSpc>
                <a:spcPct val="100000"/>
              </a:lnSpc>
              <a:buChar char="•"/>
              <a:tabLst>
                <a:tab pos="298450" algn="l"/>
                <a:tab pos="342265" algn="l"/>
              </a:tabLst>
            </a:pPr>
            <a:r>
              <a:rPr dirty="0" sz="1400">
                <a:latin typeface="Arial"/>
                <a:cs typeface="Arial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Similar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data-</a:t>
            </a:r>
            <a:r>
              <a:rPr dirty="0" sz="1400">
                <a:latin typeface="Times New Roman"/>
                <a:cs typeface="Times New Roman"/>
              </a:rPr>
              <a:t>driven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technique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stop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redundant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pulses.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preferred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ability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avoid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tight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constraints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its </a:t>
            </a:r>
            <a:r>
              <a:rPr dirty="0" sz="1400">
                <a:latin typeface="Times New Roman"/>
                <a:cs typeface="Times New Roman"/>
              </a:rPr>
              <a:t>easy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circuit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implementation.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also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consumes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less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switching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activity.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06000" y="5143500"/>
            <a:ext cx="2286000" cy="171450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72026" y="461068"/>
            <a:ext cx="10456545" cy="4719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References</a:t>
            </a:r>
            <a:endParaRPr sz="140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buAutoNum type="arabicPlain"/>
              <a:tabLst>
                <a:tab pos="264160" algn="l"/>
              </a:tabLst>
            </a:pPr>
            <a:r>
              <a:rPr dirty="0" sz="1400">
                <a:latin typeface="Times New Roman"/>
                <a:cs typeface="Times New Roman"/>
              </a:rPr>
              <a:t>Frank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Emnett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Mark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Biegel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,“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Power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Reduction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Through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RTL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Clock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Gating</a:t>
            </a:r>
            <a:r>
              <a:rPr dirty="0" sz="1400">
                <a:latin typeface="Times New Roman"/>
                <a:cs typeface="Times New Roman"/>
              </a:rPr>
              <a:t>“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SNUG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Jose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2000</a:t>
            </a:r>
            <a:endParaRPr sz="1400">
              <a:latin typeface="Times New Roman"/>
              <a:cs typeface="Times New Roman"/>
            </a:endParaRPr>
          </a:p>
          <a:p>
            <a:pPr marL="12700" marR="189230" indent="251460">
              <a:lnSpc>
                <a:spcPct val="100000"/>
              </a:lnSpc>
              <a:buAutoNum type="arabicPlain"/>
              <a:tabLst>
                <a:tab pos="264160" algn="l"/>
              </a:tabLst>
            </a:pPr>
            <a:r>
              <a:rPr dirty="0" sz="1400">
                <a:latin typeface="Times New Roman"/>
                <a:cs typeface="Times New Roman"/>
              </a:rPr>
              <a:t>C.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Ashok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Kumar,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B.K.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Madhavi,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Kishore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,Journal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Automation,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Mobile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Robotics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“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Enhanced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clock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spc="-1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gating</a:t>
            </a:r>
            <a:r>
              <a:rPr dirty="0" sz="1400" spc="-10" b="1">
                <a:solidFill>
                  <a:srgbClr val="0562C1"/>
                </a:solidFill>
                <a:latin typeface="Times New Roman"/>
                <a:cs typeface="Times New Roman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technique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for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power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optimization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in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SRAM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and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Sequential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circuit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”</a:t>
            </a:r>
            <a:r>
              <a:rPr dirty="0" sz="1400">
                <a:latin typeface="Times New Roman"/>
                <a:cs typeface="Times New Roman"/>
              </a:rPr>
              <a:t>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1th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October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2021</a:t>
            </a:r>
            <a:endParaRPr sz="1400">
              <a:latin typeface="Times New Roman"/>
              <a:cs typeface="Times New Roman"/>
            </a:endParaRPr>
          </a:p>
          <a:p>
            <a:pPr marL="264160" indent="-251460">
              <a:lnSpc>
                <a:spcPct val="100000"/>
              </a:lnSpc>
              <a:buAutoNum type="arabicPlain"/>
              <a:tabLst>
                <a:tab pos="264160" algn="l"/>
              </a:tabLst>
            </a:pPr>
            <a:r>
              <a:rPr dirty="0" sz="1400">
                <a:latin typeface="Times New Roman"/>
                <a:cs typeface="Times New Roman"/>
              </a:rPr>
              <a:t>1SHREYA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MAOLANKER,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2SWAPNIL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BORPE,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3BHAGYASHREE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KALMEGH,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4NIKHIL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PARKHI,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5SAURABH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GIRATKAR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50">
                <a:latin typeface="Times New Roman"/>
                <a:cs typeface="Times New Roman"/>
              </a:rPr>
              <a:t>,</a:t>
            </a:r>
            <a:endParaRPr sz="1400">
              <a:latin typeface="Times New Roman"/>
              <a:cs typeface="Times New Roman"/>
            </a:endParaRPr>
          </a:p>
          <a:p>
            <a:pPr marL="12700" marR="7810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“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Implementation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of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adaptive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clock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gating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technique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for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Low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power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circuits</a:t>
            </a:r>
            <a:r>
              <a:rPr dirty="0" u="sng" sz="1400" spc="-25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–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A</a:t>
            </a:r>
            <a:r>
              <a:rPr dirty="0" u="sng" sz="1400" spc="-3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Review</a:t>
            </a:r>
            <a:r>
              <a:rPr dirty="0" sz="1400">
                <a:latin typeface="Times New Roman"/>
                <a:cs typeface="Times New Roman"/>
              </a:rPr>
              <a:t>”,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International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Journal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Electrical,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Electronics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Communication,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ISSN: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2320-</a:t>
            </a:r>
            <a:r>
              <a:rPr dirty="0" sz="1400" spc="-20">
                <a:latin typeface="Times New Roman"/>
                <a:cs typeface="Times New Roman"/>
              </a:rPr>
              <a:t>2084</a:t>
            </a:r>
            <a:endParaRPr sz="1400">
              <a:latin typeface="Times New Roman"/>
              <a:cs typeface="Times New Roman"/>
            </a:endParaRPr>
          </a:p>
          <a:p>
            <a:pPr marL="12700" marR="461009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[4]H.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Vo,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The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Merged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Clock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Gating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Architecture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For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Low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Power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Digital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Clock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Application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On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FPGA</a:t>
            </a:r>
            <a:r>
              <a:rPr dirty="0" sz="1400">
                <a:latin typeface="Times New Roman"/>
                <a:cs typeface="Times New Roman"/>
              </a:rPr>
              <a:t>,"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2018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International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Conference</a:t>
            </a:r>
            <a:r>
              <a:rPr dirty="0" sz="1400" spc="-25">
                <a:latin typeface="Times New Roman"/>
                <a:cs typeface="Times New Roman"/>
              </a:rPr>
              <a:t> on </a:t>
            </a:r>
            <a:r>
              <a:rPr dirty="0" sz="1400">
                <a:latin typeface="Times New Roman"/>
                <a:cs typeface="Times New Roman"/>
              </a:rPr>
              <a:t>Advanced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Technologies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Communications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(ATC),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Chi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Minh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City,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Vietnam,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2018,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282-286,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doi: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10.1109/ATC.2018.8587596. </a:t>
            </a:r>
            <a:r>
              <a:rPr dirty="0" sz="1400">
                <a:latin typeface="Times New Roman"/>
                <a:cs typeface="Times New Roman"/>
              </a:rPr>
              <a:t>[5]M.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Cho,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Gill,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Sharma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Gupta,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Adaptive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Clock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Gating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for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Improving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Wear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out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induced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Duty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Cycle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Shift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in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the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Clock</a:t>
            </a:r>
            <a:r>
              <a:rPr dirty="0" sz="1400" spc="-10">
                <a:solidFill>
                  <a:srgbClr val="0562C1"/>
                </a:solidFill>
                <a:latin typeface="Times New Roman"/>
                <a:cs typeface="Times New Roman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Network</a:t>
            </a:r>
            <a:r>
              <a:rPr dirty="0" sz="1400">
                <a:latin typeface="Times New Roman"/>
                <a:cs typeface="Times New Roman"/>
              </a:rPr>
              <a:t>,"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i="1">
                <a:latin typeface="Times New Roman"/>
                <a:cs typeface="Times New Roman"/>
              </a:rPr>
              <a:t>2024</a:t>
            </a:r>
            <a:r>
              <a:rPr dirty="0" sz="1400" spc="-20" i="1">
                <a:latin typeface="Times New Roman"/>
                <a:cs typeface="Times New Roman"/>
              </a:rPr>
              <a:t> </a:t>
            </a:r>
            <a:r>
              <a:rPr dirty="0" sz="1400" i="1">
                <a:latin typeface="Times New Roman"/>
                <a:cs typeface="Times New Roman"/>
              </a:rPr>
              <a:t>IEEE</a:t>
            </a:r>
            <a:r>
              <a:rPr dirty="0" sz="1400" spc="-20" i="1">
                <a:latin typeface="Times New Roman"/>
                <a:cs typeface="Times New Roman"/>
              </a:rPr>
              <a:t> </a:t>
            </a:r>
            <a:r>
              <a:rPr dirty="0" sz="1400" i="1">
                <a:latin typeface="Times New Roman"/>
                <a:cs typeface="Times New Roman"/>
              </a:rPr>
              <a:t>International</a:t>
            </a:r>
            <a:r>
              <a:rPr dirty="0" sz="1400" spc="-15" i="1">
                <a:latin typeface="Times New Roman"/>
                <a:cs typeface="Times New Roman"/>
              </a:rPr>
              <a:t> </a:t>
            </a:r>
            <a:r>
              <a:rPr dirty="0" sz="1400" i="1">
                <a:latin typeface="Times New Roman"/>
                <a:cs typeface="Times New Roman"/>
              </a:rPr>
              <a:t>Reliability</a:t>
            </a:r>
            <a:r>
              <a:rPr dirty="0" sz="1400" spc="-20" i="1">
                <a:latin typeface="Times New Roman"/>
                <a:cs typeface="Times New Roman"/>
              </a:rPr>
              <a:t> </a:t>
            </a:r>
            <a:r>
              <a:rPr dirty="0" sz="1400" i="1">
                <a:latin typeface="Times New Roman"/>
                <a:cs typeface="Times New Roman"/>
              </a:rPr>
              <a:t>Physics</a:t>
            </a:r>
            <a:r>
              <a:rPr dirty="0" sz="1400" spc="-20" i="1">
                <a:latin typeface="Times New Roman"/>
                <a:cs typeface="Times New Roman"/>
              </a:rPr>
              <a:t> </a:t>
            </a:r>
            <a:r>
              <a:rPr dirty="0" sz="1400" spc="-10" i="1">
                <a:latin typeface="Times New Roman"/>
                <a:cs typeface="Times New Roman"/>
              </a:rPr>
              <a:t>Symposium</a:t>
            </a:r>
            <a:r>
              <a:rPr dirty="0" sz="1400" spc="-15" i="1">
                <a:latin typeface="Times New Roman"/>
                <a:cs typeface="Times New Roman"/>
              </a:rPr>
              <a:t> </a:t>
            </a:r>
            <a:r>
              <a:rPr dirty="0" sz="1400" i="1">
                <a:latin typeface="Times New Roman"/>
                <a:cs typeface="Times New Roman"/>
              </a:rPr>
              <a:t>(IRPS)</a:t>
            </a:r>
            <a:r>
              <a:rPr dirty="0" sz="1400">
                <a:latin typeface="Times New Roman"/>
                <a:cs typeface="Times New Roman"/>
              </a:rPr>
              <a:t>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Grapevine,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TX,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USA,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2024,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1-4,</a:t>
            </a:r>
            <a:r>
              <a:rPr dirty="0" sz="1400" spc="-20">
                <a:latin typeface="Times New Roman"/>
                <a:cs typeface="Times New Roman"/>
              </a:rPr>
              <a:t> doi: </a:t>
            </a:r>
            <a:r>
              <a:rPr dirty="0" sz="1400" spc="-10">
                <a:latin typeface="Times New Roman"/>
                <a:cs typeface="Times New Roman"/>
              </a:rPr>
              <a:t>10.1109/IRPS48228.2024.10529398.</a:t>
            </a:r>
            <a:endParaRPr sz="1400">
              <a:latin typeface="Times New Roman"/>
              <a:cs typeface="Times New Roman"/>
            </a:endParaRPr>
          </a:p>
          <a:p>
            <a:pPr marL="12700" marR="633730" indent="-63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[6]J.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Shinde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Salankar,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Clock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gating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—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A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power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optimizing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technique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for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VLSI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7"/>
              </a:rPr>
              <a:t>circuits</a:t>
            </a:r>
            <a:r>
              <a:rPr dirty="0" sz="1400">
                <a:latin typeface="Times New Roman"/>
                <a:cs typeface="Times New Roman"/>
              </a:rPr>
              <a:t>,"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2011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Annual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IEEE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Conference, </a:t>
            </a:r>
            <a:r>
              <a:rPr dirty="0" sz="1400">
                <a:latin typeface="Times New Roman"/>
                <a:cs typeface="Times New Roman"/>
              </a:rPr>
              <a:t>Hyderabad,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2011,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1-4,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doi: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10.1109/INDCON.2011.6139440.</a:t>
            </a:r>
            <a:endParaRPr sz="1400">
              <a:latin typeface="Times New Roman"/>
              <a:cs typeface="Times New Roman"/>
            </a:endParaRPr>
          </a:p>
          <a:p>
            <a:pPr marL="12700" marR="411480" indent="251460">
              <a:lnSpc>
                <a:spcPct val="100000"/>
              </a:lnSpc>
              <a:buAutoNum type="arabicPlain" startAt="7"/>
              <a:tabLst>
                <a:tab pos="264160" algn="l"/>
              </a:tabLst>
            </a:pPr>
            <a:r>
              <a:rPr dirty="0" sz="1400">
                <a:latin typeface="Times New Roman"/>
                <a:cs typeface="Times New Roman"/>
              </a:rPr>
              <a:t>T.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Chindhu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Shanmugasundaram,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8"/>
              </a:rPr>
              <a:t>Clock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8"/>
              </a:rPr>
              <a:t>Gating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8"/>
              </a:rPr>
              <a:t>Techniques: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8"/>
              </a:rPr>
              <a:t>An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8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8"/>
              </a:rPr>
              <a:t>Overview</a:t>
            </a:r>
            <a:r>
              <a:rPr dirty="0" sz="1400">
                <a:latin typeface="Times New Roman"/>
                <a:cs typeface="Times New Roman"/>
              </a:rPr>
              <a:t>,"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2018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Conference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Emerging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Devices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Smart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(ICEDSS),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Tiruchengode,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2018,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217-221,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doi: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10.1109/ICEDSS.2018.8544281.</a:t>
            </a:r>
            <a:endParaRPr sz="1400">
              <a:latin typeface="Times New Roman"/>
              <a:cs typeface="Times New Roman"/>
            </a:endParaRPr>
          </a:p>
          <a:p>
            <a:pPr marL="12700" marR="5080" indent="-635">
              <a:lnSpc>
                <a:spcPct val="100000"/>
              </a:lnSpc>
              <a:buAutoNum type="arabicPlain" startAt="7"/>
              <a:tabLst>
                <a:tab pos="12700" algn="l"/>
                <a:tab pos="263525" algn="l"/>
              </a:tabLst>
            </a:pP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Panda,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Sharma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Asati,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Clock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Gating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Analysis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of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TG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Based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D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Flip-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Flop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for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Different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Technology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Nodes</a:t>
            </a:r>
            <a:r>
              <a:rPr dirty="0" sz="1400">
                <a:latin typeface="Times New Roman"/>
                <a:cs typeface="Times New Roman"/>
              </a:rPr>
              <a:t>,"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2020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IEEE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7th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Uttar </a:t>
            </a:r>
            <a:r>
              <a:rPr dirty="0" sz="1400">
                <a:latin typeface="Times New Roman"/>
                <a:cs typeface="Times New Roman"/>
              </a:rPr>
              <a:t>Pradesh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Section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International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Conference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Electrical,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Electronics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Engineering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(UPCON),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Prayagraj,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2020,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1-6,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doi: </a:t>
            </a:r>
            <a:r>
              <a:rPr dirty="0" sz="1400" spc="-10">
                <a:latin typeface="Times New Roman"/>
                <a:cs typeface="Times New Roman"/>
              </a:rPr>
              <a:t>10.1109/UPCON50219.2020.9376565.</a:t>
            </a:r>
            <a:endParaRPr sz="1400">
              <a:latin typeface="Times New Roman"/>
              <a:cs typeface="Times New Roman"/>
            </a:endParaRPr>
          </a:p>
          <a:p>
            <a:pPr marL="12700" marR="171450" indent="251460">
              <a:lnSpc>
                <a:spcPct val="100000"/>
              </a:lnSpc>
              <a:buAutoNum type="arabicPlain" startAt="7"/>
              <a:tabLst>
                <a:tab pos="264160" algn="l"/>
              </a:tabLst>
            </a:pPr>
            <a:r>
              <a:rPr dirty="0" sz="1400">
                <a:latin typeface="Times New Roman"/>
                <a:cs typeface="Times New Roman"/>
              </a:rPr>
              <a:t>G.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Srivatsava,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Singh,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Gaggar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Vishvakarma,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Dynamic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power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reduction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through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clock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gating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technique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for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low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power</a:t>
            </a:r>
            <a:r>
              <a:rPr dirty="0" sz="1400" spc="-10">
                <a:solidFill>
                  <a:srgbClr val="0562C1"/>
                </a:solidFill>
                <a:latin typeface="Times New Roman"/>
                <a:cs typeface="Times New Roman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memory</a:t>
            </a:r>
            <a:r>
              <a:rPr dirty="0" u="sng" sz="1400" spc="-3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9"/>
              </a:rPr>
              <a:t>applications,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2015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IEEE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International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Conference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Electrical,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Communication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Technologies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(ICECCT),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Coimbatore, </a:t>
            </a:r>
            <a:r>
              <a:rPr dirty="0" sz="1400">
                <a:latin typeface="Times New Roman"/>
                <a:cs typeface="Times New Roman"/>
              </a:rPr>
              <a:t>India,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2015,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1-6,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doi:</a:t>
            </a:r>
            <a:r>
              <a:rPr dirty="0" sz="1400" spc="-10">
                <a:latin typeface="Times New Roman"/>
                <a:cs typeface="Times New Roman"/>
              </a:rPr>
              <a:t> 10.1109/ICECCT.2015.7226204.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906000" y="5143500"/>
            <a:ext cx="2286000" cy="1714500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5064" y="6107760"/>
            <a:ext cx="1432864" cy="614083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556247" y="363728"/>
            <a:ext cx="11017885" cy="237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034" indent="340360">
              <a:lnSpc>
                <a:spcPct val="100000"/>
              </a:lnSpc>
              <a:spcBef>
                <a:spcPts val="100"/>
              </a:spcBef>
              <a:buAutoNum type="arabicPlain" startAt="10"/>
              <a:tabLst>
                <a:tab pos="353060" algn="l"/>
              </a:tabLst>
            </a:pPr>
            <a:r>
              <a:rPr dirty="0" sz="1400">
                <a:latin typeface="Times New Roman"/>
                <a:cs typeface="Times New Roman"/>
              </a:rPr>
              <a:t>K.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Aditya,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Kotaru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Naik,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Design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of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low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power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shift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register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using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activity-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driven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optimized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clock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gating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and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run-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time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power</a:t>
            </a:r>
            <a:r>
              <a:rPr dirty="0" sz="1400" spc="-10">
                <a:solidFill>
                  <a:srgbClr val="0562C1"/>
                </a:solidFill>
                <a:latin typeface="Times New Roman"/>
                <a:cs typeface="Times New Roman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3"/>
              </a:rPr>
              <a:t>gating</a:t>
            </a:r>
            <a:r>
              <a:rPr dirty="0" sz="1400">
                <a:latin typeface="Times New Roman"/>
                <a:cs typeface="Times New Roman"/>
              </a:rPr>
              <a:t>,"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2014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International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Conference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Green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Communication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Electrical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Engineering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(ICGCCEE),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Coimbatore,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2014,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1-</a:t>
            </a:r>
            <a:r>
              <a:rPr dirty="0" sz="1400" spc="-25">
                <a:latin typeface="Times New Roman"/>
                <a:cs typeface="Times New Roman"/>
              </a:rPr>
              <a:t>7, </a:t>
            </a:r>
            <a:r>
              <a:rPr dirty="0" sz="1400">
                <a:latin typeface="Times New Roman"/>
                <a:cs typeface="Times New Roman"/>
              </a:rPr>
              <a:t>doi:</a:t>
            </a:r>
            <a:r>
              <a:rPr dirty="0" sz="1400" spc="-10">
                <a:latin typeface="Times New Roman"/>
                <a:cs typeface="Times New Roman"/>
              </a:rPr>
              <a:t> 10.1109/ICGCCEE.2014.6922241.</a:t>
            </a:r>
            <a:endParaRPr sz="1400">
              <a:latin typeface="Times New Roman"/>
              <a:cs typeface="Times New Roman"/>
            </a:endParaRPr>
          </a:p>
          <a:p>
            <a:pPr marL="12700" marR="163830" indent="340360">
              <a:lnSpc>
                <a:spcPct val="100000"/>
              </a:lnSpc>
              <a:buAutoNum type="arabicPlain" startAt="10"/>
              <a:tabLst>
                <a:tab pos="353060" algn="l"/>
              </a:tabLst>
            </a:pPr>
            <a:r>
              <a:rPr dirty="0" sz="1400">
                <a:latin typeface="Times New Roman"/>
                <a:cs typeface="Times New Roman"/>
              </a:rPr>
              <a:t>B.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Tomar,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Chaurasia,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Yadav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Pandey,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"Power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Reduction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of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ITC'99-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b01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Benchmark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Circuit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Using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Clock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Gating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4"/>
              </a:rPr>
              <a:t>Technique,"</a:t>
            </a:r>
            <a:r>
              <a:rPr dirty="0" sz="1400">
                <a:solidFill>
                  <a:srgbClr val="0562C1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2013 </a:t>
            </a:r>
            <a:r>
              <a:rPr dirty="0" sz="1400">
                <a:latin typeface="Times New Roman"/>
                <a:cs typeface="Times New Roman"/>
              </a:rPr>
              <a:t>5th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International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Conference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Computational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Communication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Networks,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Mathura,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2013,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423-427,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doi: </a:t>
            </a:r>
            <a:r>
              <a:rPr dirty="0" sz="1400" spc="-10">
                <a:latin typeface="Times New Roman"/>
                <a:cs typeface="Times New Roman"/>
              </a:rPr>
              <a:t>10.1109/CICN.2013.93.</a:t>
            </a:r>
            <a:endParaRPr sz="1400">
              <a:latin typeface="Times New Roman"/>
              <a:cs typeface="Times New Roman"/>
            </a:endParaRPr>
          </a:p>
          <a:p>
            <a:pPr marL="12700" marR="645795" indent="340360">
              <a:lnSpc>
                <a:spcPct val="100000"/>
              </a:lnSpc>
              <a:buAutoNum type="arabicPlain" startAt="10"/>
              <a:tabLst>
                <a:tab pos="353060" algn="l"/>
              </a:tabLst>
            </a:pPr>
            <a:r>
              <a:rPr dirty="0" sz="1400">
                <a:latin typeface="Times New Roman"/>
                <a:cs typeface="Times New Roman"/>
              </a:rPr>
              <a:t>S.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Gupta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Vinodhini,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"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Low-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Power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Linear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Feedback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Shift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Register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Using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TSPC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Flip-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Flop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and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Clock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5"/>
              </a:rPr>
              <a:t>Gating,"</a:t>
            </a:r>
            <a:r>
              <a:rPr dirty="0" sz="1400" spc="10">
                <a:solidFill>
                  <a:srgbClr val="0562C1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2025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Fifth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International </a:t>
            </a:r>
            <a:r>
              <a:rPr dirty="0" sz="1400">
                <a:latin typeface="Times New Roman"/>
                <a:cs typeface="Times New Roman"/>
              </a:rPr>
              <a:t>Conference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Advances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Electrical,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Computing,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Communication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Sustainable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Technologies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(ICAECT),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Bhilai,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2025,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1-5,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doi: </a:t>
            </a:r>
            <a:r>
              <a:rPr dirty="0" sz="1400" spc="-10">
                <a:latin typeface="Times New Roman"/>
                <a:cs typeface="Times New Roman"/>
              </a:rPr>
              <a:t>10.1109/ICAECT63952.2025.10958909.</a:t>
            </a:r>
            <a:endParaRPr sz="1400">
              <a:latin typeface="Times New Roman"/>
              <a:cs typeface="Times New Roman"/>
            </a:endParaRPr>
          </a:p>
          <a:p>
            <a:pPr marL="12700" marR="5080" indent="340360">
              <a:lnSpc>
                <a:spcPct val="100000"/>
              </a:lnSpc>
              <a:buAutoNum type="arabicPlain" startAt="10"/>
              <a:tabLst>
                <a:tab pos="353060" algn="l"/>
              </a:tabLst>
            </a:pPr>
            <a:r>
              <a:rPr dirty="0" sz="1400">
                <a:latin typeface="Times New Roman"/>
                <a:cs typeface="Times New Roman"/>
              </a:rPr>
              <a:t>J.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A.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Optimized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Design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of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Clock-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Gated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D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Flip-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Flop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using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Transmission</a:t>
            </a:r>
            <a:r>
              <a:rPr dirty="0" u="sng" sz="1400" spc="-1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6"/>
              </a:rPr>
              <a:t>Gate,</a:t>
            </a:r>
            <a:r>
              <a:rPr dirty="0" sz="1400">
                <a:latin typeface="Times New Roman"/>
                <a:cs typeface="Times New Roman"/>
              </a:rPr>
              <a:t>"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2025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Third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International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Conference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on </a:t>
            </a:r>
            <a:r>
              <a:rPr dirty="0" sz="1400">
                <a:latin typeface="Times New Roman"/>
                <a:cs typeface="Times New Roman"/>
              </a:rPr>
              <a:t>Augmented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Intelligence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Sustainable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(ICAISS),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Trichy,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India,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2025,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pp.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911-916,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doi: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10.1109/ICAISS61471.2025.11042123.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63089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Architecture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1008" y="816523"/>
            <a:ext cx="1530350" cy="4229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Structural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Block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Diagram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292710" y="785541"/>
            <a:ext cx="4590415" cy="60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Behaviour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Diagram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latin typeface="Times New Roman"/>
                <a:cs typeface="Times New Roman"/>
              </a:rPr>
              <a:t>Flow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chart/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machine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imes New Roman"/>
                <a:cs typeface="Times New Roman"/>
              </a:rPr>
              <a:t>Resource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u="sng" sz="12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Times New Roman"/>
                <a:cs typeface="Times New Roman"/>
                <a:hlinkClick r:id="rId2"/>
              </a:rPr>
              <a:t>https://www.lucidchart.com/pages/examples/uml_diagram_tool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283" y="1465884"/>
            <a:ext cx="5204599" cy="373537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22733" y="1844103"/>
            <a:ext cx="5095862" cy="2978937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612438" y="5409679"/>
            <a:ext cx="39382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Schematic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diagram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unified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adaptive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gating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575107" y="5163184"/>
            <a:ext cx="47085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State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machine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diagram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–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transitions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unified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adaptive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575107" y="5376545"/>
            <a:ext cx="8991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gating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0" y="5143500"/>
            <a:ext cx="2286000" cy="1714500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358900">
              <a:lnSpc>
                <a:spcPct val="100000"/>
              </a:lnSpc>
              <a:spcBef>
                <a:spcPts val="100"/>
              </a:spcBef>
            </a:pPr>
            <a:r>
              <a:rPr dirty="0"/>
              <a:t>Use</a:t>
            </a:r>
            <a:r>
              <a:rPr dirty="0" spc="-50"/>
              <a:t> </a:t>
            </a:r>
            <a:r>
              <a:rPr dirty="0"/>
              <a:t>Cases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10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3020" y="1131034"/>
            <a:ext cx="5566410" cy="2799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Use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Cases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Use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Active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Operation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continuously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receiving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computations</a:t>
            </a:r>
            <a:endParaRPr sz="14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function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correctly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and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power-</a:t>
            </a:r>
            <a:r>
              <a:rPr dirty="0" sz="1400">
                <a:latin typeface="Times New Roman"/>
                <a:cs typeface="Times New Roman"/>
              </a:rPr>
              <a:t>saving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0">
                <a:latin typeface="Times New Roman"/>
                <a:cs typeface="Times New Roman"/>
              </a:rPr>
              <a:t> triggered.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Use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Short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Idle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Period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becomes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short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period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time.</a:t>
            </a:r>
            <a:endParaRPr sz="1400">
              <a:latin typeface="Times New Roman"/>
              <a:cs typeface="Times New Roman"/>
            </a:endParaRPr>
          </a:p>
          <a:p>
            <a:pPr marL="298450" marR="280035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light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sleep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by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holds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output.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Use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3: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Long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Idle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Period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remains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idle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long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duration.</a:t>
            </a:r>
            <a:endParaRPr sz="1400">
              <a:latin typeface="Times New Roman"/>
              <a:cs typeface="Times New Roman"/>
            </a:endParaRPr>
          </a:p>
          <a:p>
            <a:pPr marL="298450" marR="27051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goal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verify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enters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deep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sleep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by </a:t>
            </a:r>
            <a:r>
              <a:rPr dirty="0" sz="1400">
                <a:latin typeface="Times New Roman"/>
                <a:cs typeface="Times New Roman"/>
              </a:rPr>
              <a:t>scaling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down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frequency,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holds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last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valid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output.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36652" y="1131035"/>
            <a:ext cx="5600065" cy="38658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Test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Cases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Test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1: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Active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Mode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Validation</a:t>
            </a:r>
            <a:endParaRPr sz="1400">
              <a:latin typeface="Times New Roman"/>
              <a:cs typeface="Times New Roman"/>
            </a:endParaRPr>
          </a:p>
          <a:p>
            <a:pPr marL="298450" marR="240665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confirm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performs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calculations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accurately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-25">
                <a:latin typeface="Times New Roman"/>
                <a:cs typeface="Times New Roman"/>
              </a:rPr>
              <a:t> the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active.</a:t>
            </a:r>
            <a:endParaRPr sz="1400">
              <a:latin typeface="Times New Roman"/>
              <a:cs typeface="Times New Roman"/>
            </a:endParaRPr>
          </a:p>
          <a:p>
            <a:pPr marL="298450" marR="571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keep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data_valid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signal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sequence</a:t>
            </a:r>
            <a:r>
              <a:rPr dirty="0" sz="1400" spc="-25">
                <a:latin typeface="Times New Roman"/>
                <a:cs typeface="Times New Roman"/>
              </a:rPr>
              <a:t> of </a:t>
            </a:r>
            <a:r>
              <a:rPr dirty="0" sz="1400">
                <a:latin typeface="Times New Roman"/>
                <a:cs typeface="Times New Roman"/>
              </a:rPr>
              <a:t>changing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inputs.</a:t>
            </a:r>
            <a:endParaRPr sz="1400">
              <a:latin typeface="Times New Roman"/>
              <a:cs typeface="Times New Roman"/>
            </a:endParaRPr>
          </a:p>
          <a:p>
            <a:pPr marL="298450" marR="16129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outputs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correctly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small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delay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after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input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change.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Test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2: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Light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Sleep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Gating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Validation</a:t>
            </a:r>
            <a:endParaRPr sz="1400">
              <a:latin typeface="Times New Roman"/>
              <a:cs typeface="Times New Roman"/>
            </a:endParaRPr>
          </a:p>
          <a:p>
            <a:pPr marL="298450" marR="278765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correctly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holds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outputs </a:t>
            </a:r>
            <a:r>
              <a:rPr dirty="0" sz="1400">
                <a:latin typeface="Times New Roman"/>
                <a:cs typeface="Times New Roman"/>
              </a:rPr>
              <a:t>during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short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idle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period.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case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keep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data_valid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low.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Sum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outputs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hold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their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last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valid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values</a:t>
            </a:r>
            <a:r>
              <a:rPr dirty="0" sz="1400" spc="-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do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10">
                <a:latin typeface="Times New Roman"/>
                <a:cs typeface="Times New Roman"/>
              </a:rPr>
              <a:t> change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Times New Roman"/>
                <a:cs typeface="Times New Roman"/>
              </a:rPr>
              <a:t>Test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Case</a:t>
            </a:r>
            <a:r>
              <a:rPr dirty="0" sz="1400" spc="-1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3:</a:t>
            </a:r>
            <a:r>
              <a:rPr dirty="0" sz="1400" spc="-10" b="1">
                <a:latin typeface="Times New Roman"/>
                <a:cs typeface="Times New Roman"/>
              </a:rPr>
              <a:t> Wake-</a:t>
            </a:r>
            <a:r>
              <a:rPr dirty="0" sz="1400" b="1">
                <a:latin typeface="Times New Roman"/>
                <a:cs typeface="Times New Roman"/>
              </a:rPr>
              <a:t>Up</a:t>
            </a:r>
            <a:r>
              <a:rPr dirty="0" sz="1400" spc="-10" b="1">
                <a:latin typeface="Times New Roman"/>
                <a:cs typeface="Times New Roman"/>
              </a:rPr>
              <a:t> Validation</a:t>
            </a:r>
            <a:endParaRPr sz="1400">
              <a:latin typeface="Times New Roman"/>
              <a:cs typeface="Times New Roman"/>
            </a:endParaRPr>
          </a:p>
          <a:p>
            <a:pPr marL="298450" marR="3302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transition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back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Active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continue </a:t>
            </a:r>
            <a:r>
              <a:rPr dirty="0" sz="1400">
                <a:latin typeface="Times New Roman"/>
                <a:cs typeface="Times New Roman"/>
              </a:rPr>
              <a:t>processing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correctly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After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sleep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data_valid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again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high</a:t>
            </a:r>
            <a:r>
              <a:rPr dirty="0" sz="1400" spc="-20" b="1">
                <a:latin typeface="Times New Roman"/>
                <a:cs typeface="Times New Roman"/>
              </a:rPr>
              <a:t>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Sum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Cout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outputs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will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update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correctly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new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inputs.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5143500"/>
            <a:ext cx="2286000" cy="171450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300281" y="3965105"/>
            <a:ext cx="6892290" cy="2893060"/>
            <a:chOff x="5300281" y="3965105"/>
            <a:chExt cx="6892290" cy="289306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45064" y="6107760"/>
              <a:ext cx="1432864" cy="61408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0281" y="3965105"/>
              <a:ext cx="6891718" cy="289289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Implementation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Results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70"/>
              <a:t> </a:t>
            </a:r>
            <a:r>
              <a:rPr dirty="0"/>
              <a:t>Iteration</a:t>
            </a:r>
            <a:r>
              <a:rPr dirty="0" spc="-70"/>
              <a:t> </a:t>
            </a:r>
            <a:r>
              <a:rPr dirty="0" spc="-50"/>
              <a:t>1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31008" y="899960"/>
            <a:ext cx="139763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Iteration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: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Results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3188" y="1359065"/>
            <a:ext cx="4094784" cy="260603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00281" y="962173"/>
            <a:ext cx="5554154" cy="294544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791927" y="4074820"/>
            <a:ext cx="7839709" cy="224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Unified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adaptive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3894454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unified_controller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ce_gen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work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together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to </a:t>
            </a:r>
            <a:r>
              <a:rPr dirty="0" sz="1400">
                <a:latin typeface="Times New Roman"/>
                <a:cs typeface="Times New Roman"/>
              </a:rPr>
              <a:t>produce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single,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highly-</a:t>
            </a:r>
            <a:r>
              <a:rPr dirty="0" sz="1400">
                <a:latin typeface="Times New Roman"/>
                <a:cs typeface="Times New Roman"/>
              </a:rPr>
              <a:t>controlled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effective_ce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signal.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signal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directly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enable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pin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on </a:t>
            </a:r>
            <a:r>
              <a:rPr dirty="0" sz="1400">
                <a:latin typeface="Times New Roman"/>
                <a:cs typeface="Times New Roman"/>
              </a:rPr>
              <a:t>each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individual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register,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giving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you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granular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control </a:t>
            </a:r>
            <a:r>
              <a:rPr dirty="0" sz="1400">
                <a:latin typeface="Times New Roman"/>
                <a:cs typeface="Times New Roman"/>
              </a:rPr>
              <a:t>over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exactly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which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parts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circuit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clocked.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400">
              <a:latin typeface="Times New Roman"/>
              <a:cs typeface="Times New Roman"/>
            </a:endParaRPr>
          </a:p>
          <a:p>
            <a:pPr marL="4864100">
              <a:lnSpc>
                <a:spcPct val="100000"/>
              </a:lnSpc>
            </a:pPr>
            <a:r>
              <a:rPr dirty="0" sz="1400" b="1">
                <a:latin typeface="Arial"/>
                <a:cs typeface="Arial"/>
              </a:rPr>
              <a:t>Output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waveform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power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report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9281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dirty="0" spc="-75"/>
              <a:t> </a:t>
            </a:r>
            <a:r>
              <a:rPr dirty="0"/>
              <a:t>&amp;</a:t>
            </a:r>
            <a:r>
              <a:rPr dirty="0" spc="-75"/>
              <a:t> </a:t>
            </a:r>
            <a:r>
              <a:rPr dirty="0"/>
              <a:t>Future</a:t>
            </a:r>
            <a:r>
              <a:rPr dirty="0" spc="-70"/>
              <a:t> </a:t>
            </a:r>
            <a:r>
              <a:rPr dirty="0" spc="-20"/>
              <a:t>Work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31000" y="899960"/>
            <a:ext cx="10382250" cy="1732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Times New Roman"/>
                <a:cs typeface="Times New Roman"/>
              </a:rPr>
              <a:t>Summary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 sz="1400">
                <a:latin typeface="Times New Roman"/>
                <a:cs typeface="Times New Roman"/>
              </a:rPr>
              <a:t>In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we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successfully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introduced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implemented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smart,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two-</a:t>
            </a:r>
            <a:r>
              <a:rPr dirty="0" sz="1400">
                <a:latin typeface="Times New Roman"/>
                <a:cs typeface="Times New Roman"/>
              </a:rPr>
              <a:t>level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power-</a:t>
            </a:r>
            <a:r>
              <a:rPr dirty="0" sz="1400">
                <a:latin typeface="Times New Roman"/>
                <a:cs typeface="Times New Roman"/>
              </a:rPr>
              <a:t>saving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system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called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20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"unified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adaptive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clock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gating methodology."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Our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uses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single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controller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intelligently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manages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two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distinct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energy-</a:t>
            </a:r>
            <a:r>
              <a:rPr dirty="0" sz="1400">
                <a:latin typeface="Times New Roman"/>
                <a:cs typeface="Times New Roman"/>
              </a:rPr>
              <a:t>saving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tools: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clock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gating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dynamic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frequency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scaling.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results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proved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functionality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full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adder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circuit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was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impacted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algorithm.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design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successfully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reduced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total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consumption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 </a:t>
            </a:r>
            <a:r>
              <a:rPr dirty="0" sz="1400" b="1">
                <a:latin typeface="Times New Roman"/>
                <a:cs typeface="Times New Roman"/>
              </a:rPr>
              <a:t>0.5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W</a:t>
            </a:r>
            <a:r>
              <a:rPr dirty="0" sz="1400">
                <a:latin typeface="Times New Roman"/>
                <a:cs typeface="Times New Roman"/>
              </a:rPr>
              <a:t>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demonstrating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efficiency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approach.</a:t>
            </a:r>
            <a:endParaRPr sz="1400">
              <a:latin typeface="Times New Roman"/>
              <a:cs typeface="Times New Roman"/>
            </a:endParaRPr>
          </a:p>
          <a:p>
            <a:pPr marL="297815" indent="-285115">
              <a:lnSpc>
                <a:spcPct val="100000"/>
              </a:lnSpc>
              <a:buFont typeface="Arial"/>
              <a:buChar char="•"/>
              <a:tabLst>
                <a:tab pos="297815" algn="l"/>
              </a:tabLst>
            </a:pPr>
            <a:r>
              <a:rPr dirty="0" sz="1400">
                <a:latin typeface="Times New Roman"/>
                <a:cs typeface="Times New Roman"/>
              </a:rPr>
              <a:t>This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project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shows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unified,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adaptive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strategy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highly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effective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method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for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low-</a:t>
            </a:r>
            <a:r>
              <a:rPr dirty="0" sz="1400">
                <a:latin typeface="Times New Roman"/>
                <a:cs typeface="Times New Roman"/>
              </a:rPr>
              <a:t>power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RTL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design.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25"/>
              <a:t> </a:t>
            </a:r>
            <a:r>
              <a:rPr dirty="0" spc="-20"/>
              <a:t>Work</a:t>
            </a:r>
          </a:p>
          <a:p>
            <a:pPr marL="298450" marR="17780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/>
              <a:t>Implement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Advanced</a:t>
            </a:r>
            <a:r>
              <a:rPr dirty="0" spc="-20"/>
              <a:t> </a:t>
            </a:r>
            <a:r>
              <a:rPr dirty="0"/>
              <a:t>Computing</a:t>
            </a:r>
            <a:r>
              <a:rPr dirty="0" spc="-25"/>
              <a:t> </a:t>
            </a:r>
            <a:r>
              <a:rPr dirty="0"/>
              <a:t>Blocks:</a:t>
            </a:r>
            <a:r>
              <a:rPr dirty="0" spc="-10"/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unified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approach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can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applied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more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complex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computing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blocks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further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demonstrate</a:t>
            </a:r>
            <a:r>
              <a:rPr dirty="0" spc="-25" b="0">
                <a:latin typeface="Times New Roman"/>
                <a:cs typeface="Times New Roman"/>
              </a:rPr>
              <a:t> the </a:t>
            </a:r>
            <a:r>
              <a:rPr dirty="0" b="0">
                <a:latin typeface="Times New Roman"/>
                <a:cs typeface="Times New Roman"/>
              </a:rPr>
              <a:t>efficiency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scalability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proposed</a:t>
            </a:r>
            <a:r>
              <a:rPr dirty="0" spc="-3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technique.</a:t>
            </a:r>
          </a:p>
          <a:p>
            <a:pPr marL="298450" marR="508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/>
              <a:t>Dynamic</a:t>
            </a:r>
            <a:r>
              <a:rPr dirty="0" spc="-25"/>
              <a:t> </a:t>
            </a:r>
            <a:r>
              <a:rPr dirty="0"/>
              <a:t>Voltage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Frequency</a:t>
            </a:r>
            <a:r>
              <a:rPr dirty="0" spc="-20"/>
              <a:t> </a:t>
            </a:r>
            <a:r>
              <a:rPr dirty="0"/>
              <a:t>Scaling</a:t>
            </a:r>
            <a:r>
              <a:rPr dirty="0" spc="-20"/>
              <a:t> </a:t>
            </a:r>
            <a:r>
              <a:rPr dirty="0"/>
              <a:t>(DVFS):</a:t>
            </a:r>
            <a:r>
              <a:rPr dirty="0" spc="-5"/>
              <a:t> </a:t>
            </a:r>
            <a:r>
              <a:rPr dirty="0" b="0">
                <a:latin typeface="Times New Roman"/>
                <a:cs typeface="Times New Roman"/>
              </a:rPr>
              <a:t>Extend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controller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manage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not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only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clock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frequency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but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also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core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voltage.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This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would </a:t>
            </a:r>
            <a:r>
              <a:rPr dirty="0" b="0">
                <a:latin typeface="Times New Roman"/>
                <a:cs typeface="Times New Roman"/>
              </a:rPr>
              <a:t>lead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quadratic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reduction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power,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achieving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even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greater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energy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savings.</a:t>
            </a:r>
          </a:p>
          <a:p>
            <a:pPr marL="298450" marR="4064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dirty="0"/>
              <a:t>Application</a:t>
            </a:r>
            <a:r>
              <a:rPr dirty="0" spc="-25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Larger</a:t>
            </a:r>
            <a:r>
              <a:rPr dirty="0" spc="-25"/>
              <a:t> </a:t>
            </a:r>
            <a:r>
              <a:rPr dirty="0"/>
              <a:t>System:</a:t>
            </a:r>
            <a:r>
              <a:rPr dirty="0" spc="-10"/>
              <a:t> </a:t>
            </a:r>
            <a:r>
              <a:rPr dirty="0" b="0">
                <a:latin typeface="Times New Roman"/>
                <a:cs typeface="Times New Roman"/>
              </a:rPr>
              <a:t>Apply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controller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more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extensive,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multi-</a:t>
            </a:r>
            <a:r>
              <a:rPr dirty="0" b="0">
                <a:latin typeface="Times New Roman"/>
                <a:cs typeface="Times New Roman"/>
              </a:rPr>
              <a:t>module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system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to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verify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its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effectiveness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robustness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in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real- </a:t>
            </a:r>
            <a:r>
              <a:rPr dirty="0" b="0">
                <a:latin typeface="Times New Roman"/>
                <a:cs typeface="Times New Roman"/>
              </a:rPr>
              <a:t>world,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System-on-</a:t>
            </a:r>
            <a:r>
              <a:rPr dirty="0" b="0">
                <a:latin typeface="Times New Roman"/>
                <a:cs typeface="Times New Roman"/>
              </a:rPr>
              <a:t>Chip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(SoC)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environment.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5143500"/>
            <a:ext cx="2286000" cy="171450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7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pc="-30"/>
              <a:t>Dept</a:t>
            </a:r>
            <a:r>
              <a:rPr dirty="0" spc="-90"/>
              <a:t> </a:t>
            </a:r>
            <a:r>
              <a:rPr dirty="0" spc="-45"/>
              <a:t>EECE,</a:t>
            </a:r>
            <a:r>
              <a:rPr dirty="0" spc="-85"/>
              <a:t> </a:t>
            </a:r>
            <a:r>
              <a:rPr dirty="0" spc="-50"/>
              <a:t>GST</a:t>
            </a:r>
            <a:r>
              <a:rPr dirty="0" spc="-85"/>
              <a:t> </a:t>
            </a:r>
            <a:r>
              <a:rPr dirty="0" spc="-10"/>
              <a:t>Bengaluru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13135" y="6249835"/>
            <a:ext cx="28187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7E7E7E"/>
                </a:solidFill>
                <a:latin typeface="Lucida Sans"/>
                <a:cs typeface="Lucida Sans"/>
              </a:rPr>
              <a:t>Dept</a:t>
            </a:r>
            <a:r>
              <a:rPr dirty="0" sz="1800" spc="-90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1800" spc="-45">
                <a:solidFill>
                  <a:srgbClr val="7E7E7E"/>
                </a:solidFill>
                <a:latin typeface="Lucida Sans"/>
                <a:cs typeface="Lucida Sans"/>
              </a:rPr>
              <a:t>EECE,</a:t>
            </a:r>
            <a:r>
              <a:rPr dirty="0" sz="1800" spc="-85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1800" spc="-50">
                <a:solidFill>
                  <a:srgbClr val="7E7E7E"/>
                </a:solidFill>
                <a:latin typeface="Lucida Sans"/>
                <a:cs typeface="Lucida Sans"/>
              </a:rPr>
              <a:t>GST</a:t>
            </a:r>
            <a:r>
              <a:rPr dirty="0" sz="1800" spc="-85">
                <a:solidFill>
                  <a:srgbClr val="7E7E7E"/>
                </a:solidFill>
                <a:latin typeface="Lucida Sans"/>
                <a:cs typeface="Lucida Sans"/>
              </a:rPr>
              <a:t> </a:t>
            </a:r>
            <a:r>
              <a:rPr dirty="0" sz="1800" spc="-10">
                <a:solidFill>
                  <a:srgbClr val="7E7E7E"/>
                </a:solidFill>
                <a:latin typeface="Lucida Sans"/>
                <a:cs typeface="Lucida Sans"/>
              </a:rPr>
              <a:t>Bengaluru</a:t>
            </a:r>
            <a:endParaRPr sz="1800">
              <a:latin typeface="Lucida Sans"/>
              <a:cs typeface="Lucida San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5064" y="6107760"/>
            <a:ext cx="1432864" cy="61408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2425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064"/>
              </a:spcBef>
            </a:pPr>
            <a:r>
              <a:rPr dirty="0" sz="11500" spc="-1180" b="0">
                <a:solidFill>
                  <a:srgbClr val="006F69"/>
                </a:solidFill>
                <a:latin typeface="Arial Black"/>
                <a:cs typeface="Arial Black"/>
              </a:rPr>
              <a:t>THANK</a:t>
            </a:r>
            <a:r>
              <a:rPr dirty="0" sz="11500" spc="-844" b="0">
                <a:solidFill>
                  <a:srgbClr val="006F69"/>
                </a:solidFill>
                <a:latin typeface="Arial Black"/>
                <a:cs typeface="Arial Black"/>
              </a:rPr>
              <a:t> </a:t>
            </a:r>
            <a:r>
              <a:rPr dirty="0" sz="11500" spc="-1095" b="0">
                <a:solidFill>
                  <a:srgbClr val="A4A4A4"/>
                </a:solidFill>
                <a:latin typeface="Arial Black"/>
                <a:cs typeface="Arial Black"/>
              </a:rPr>
              <a:t>YOU</a:t>
            </a:r>
            <a:endParaRPr sz="115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1385"/>
              </a:spcBef>
            </a:pPr>
            <a:r>
              <a:rPr dirty="0" sz="2000" spc="-140" b="0">
                <a:solidFill>
                  <a:srgbClr val="7E7E7E"/>
                </a:solidFill>
                <a:latin typeface="Arial Black"/>
                <a:cs typeface="Arial Black"/>
              </a:rPr>
              <a:t>Have a </a:t>
            </a:r>
            <a:r>
              <a:rPr dirty="0" sz="2000" spc="-110" b="0">
                <a:solidFill>
                  <a:srgbClr val="7E7E7E"/>
                </a:solidFill>
                <a:latin typeface="Arial Black"/>
                <a:cs typeface="Arial Black"/>
              </a:rPr>
              <a:t>Great</a:t>
            </a:r>
            <a:r>
              <a:rPr dirty="0" sz="2000" spc="-135" b="0">
                <a:solidFill>
                  <a:srgbClr val="7E7E7E"/>
                </a:solidFill>
                <a:latin typeface="Arial Black"/>
                <a:cs typeface="Arial Black"/>
              </a:rPr>
              <a:t> </a:t>
            </a:r>
            <a:r>
              <a:rPr dirty="0" sz="2000" spc="-100" b="0">
                <a:solidFill>
                  <a:srgbClr val="7E7E7E"/>
                </a:solidFill>
                <a:latin typeface="Arial Black"/>
                <a:cs typeface="Arial Black"/>
              </a:rPr>
              <a:t>Day</a:t>
            </a:r>
            <a:r>
              <a:rPr dirty="0" sz="2000" spc="-140" b="0">
                <a:solidFill>
                  <a:srgbClr val="7E7E7E"/>
                </a:solidFill>
                <a:latin typeface="Arial Black"/>
                <a:cs typeface="Arial Black"/>
              </a:rPr>
              <a:t> </a:t>
            </a:r>
            <a:r>
              <a:rPr dirty="0" sz="2000" spc="-50" b="0">
                <a:solidFill>
                  <a:srgbClr val="7E7E7E"/>
                </a:solidFill>
                <a:latin typeface="Arial Black"/>
                <a:cs typeface="Arial Black"/>
              </a:rPr>
              <a:t>!</a:t>
            </a:r>
            <a:endParaRPr sz="20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2025-11-25T11:03:34Z</dcterms:created>
  <dcterms:modified xsi:type="dcterms:W3CDTF">2025-11-25T11:03:34Z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2025-11-25T00:00:00Z</vt:filetime>
  </property>
  <property fmtid="{D5CDD505-2E9C-101B-9397-08002B2CF9AE}" pid="3" name="LastSaved">
    <vt:filetime>2025-11-25T00:00:00Z</vt:filetime>
  </property>
  <property fmtid="{D5CDD505-2E9C-101B-9397-08002B2CF9AE}" pid="4" name="Producer">
    <vt:lpwstr>3-Heights(TM) PDF Security Shell 4.8.25.2 (http://www.pdf-tools.com)</vt:lpwstr>
  </property>
</Properties>
</file>